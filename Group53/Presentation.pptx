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95" r:id="rId35"/>
    <p:sldId id="296" r:id="rId36"/>
    <p:sldId id="289" r:id="rId37"/>
    <p:sldId id="297" r:id="rId38"/>
    <p:sldId id="290" r:id="rId39"/>
    <p:sldId id="298" r:id="rId40"/>
    <p:sldId id="291" r:id="rId41"/>
    <p:sldId id="299" r:id="rId42"/>
    <p:sldId id="292" r:id="rId43"/>
    <p:sldId id="293" r:id="rId44"/>
    <p:sldId id="294" r:id="rId4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48" d="100"/>
          <a:sy n="48" d="100"/>
        </p:scale>
        <p:origin x="53" y="6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corator_seminar_qui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decorator_seminar_qui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B2E">
                  <a:alpha val="30000"/>
                </a:srgbClr>
              </a:gs>
              <a:gs pos="50000">
                <a:srgbClr val="1A1B2E">
                  <a:alpha val="60000"/>
                </a:srgbClr>
              </a:gs>
              <a:gs pos="100000">
                <a:srgbClr val="1A1B2E">
                  <a:alpha val="90000"/>
                </a:srgbClr>
              </a:gs>
            </a:gsLst>
            <a:lin ang="5400000" scaled="1"/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952500" y="2952750"/>
            <a:ext cx="762000" cy="38100"/>
          </a:xfrm>
          <a:prstGeom prst="roundRect">
            <a:avLst>
              <a:gd name="adj" fmla="val 50000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933450" y="3103245"/>
            <a:ext cx="6954374" cy="762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9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Decorator Design Pattern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41832" y="3773805"/>
            <a:ext cx="6488497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CS202 — Object-Oriented Programming Seminar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45642" y="4426268"/>
            <a:ext cx="4796707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Design Patterns: Structural · Behavioral · Creational</a:t>
            </a:r>
          </a:p>
        </p:txBody>
      </p:sp>
      <p:sp>
        <p:nvSpPr>
          <p:cNvPr id="8" name="Rectangle 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947166" y="6649402"/>
            <a:ext cx="29615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CS202 Seminar · Software Design Patterns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8284" y="470535"/>
            <a:ext cx="1298751" cy="52806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7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Agenda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914400"/>
            <a:ext cx="57150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55142" y="1330642"/>
            <a:ext cx="3112481" cy="2169033"/>
            <a:chOff x="755142" y="1330642"/>
            <a:chExt cx="3112481" cy="2169033"/>
          </a:xfrm>
        </p:grpSpPr>
        <p:sp>
          <p:nvSpPr>
            <p:cNvPr id="4" name="TextBox 4"/>
            <p:cNvSpPr txBox="1"/>
            <p:nvPr/>
          </p:nvSpPr>
          <p:spPr>
            <a:xfrm>
              <a:off x="755142" y="1330642"/>
              <a:ext cx="19806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01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Real-world Problem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5142" y="1711642"/>
              <a:ext cx="16068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02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Naive Solutions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2092642"/>
              <a:ext cx="30948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03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Problems with Naive Approaches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55142" y="2473642"/>
              <a:ext cx="3112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04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Decorator Pattern Introduction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2854642"/>
              <a:ext cx="189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05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UML Class Diagram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142" y="3235642"/>
              <a:ext cx="198146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06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C++ Implementation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6279642" y="1330642"/>
            <a:ext cx="2753069" cy="2169033"/>
            <a:chOff x="6279642" y="1330642"/>
            <a:chExt cx="2753069" cy="2169033"/>
          </a:xfrm>
        </p:grpSpPr>
        <p:sp>
          <p:nvSpPr>
            <p:cNvPr id="11" name="TextBox 11"/>
            <p:cNvSpPr txBox="1"/>
            <p:nvPr/>
          </p:nvSpPr>
          <p:spPr>
            <a:xfrm>
              <a:off x="6279642" y="1330642"/>
              <a:ext cx="24422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07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Execution Flow &amp; Output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79642" y="1711642"/>
              <a:ext cx="27530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08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Advantages &amp; Disadvantages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79642" y="2092642"/>
              <a:ext cx="184413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09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Strategy Pattern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79642" y="2473642"/>
              <a:ext cx="1644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10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Facade Pattern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279642" y="2854642"/>
              <a:ext cx="23522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11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Real-world Applications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279642" y="3235642"/>
              <a:ext cx="10806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12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Mini Quiz</a:t>
              </a:r>
            </a:p>
          </p:txBody>
        </p:sp>
      </p:grpSp>
      <p:sp>
        <p:nvSpPr>
          <p:cNvPr id="18" name="Line 18"/>
          <p:cNvSpPr/>
          <p:nvPr/>
        </p:nvSpPr>
        <p:spPr>
          <a:xfrm>
            <a:off x="762000" y="6477000"/>
            <a:ext cx="10668000" cy="9525"/>
          </a:xfrm>
          <a:custGeom>
            <a:avLst/>
            <a:gdLst/>
            <a:ahLst/>
            <a:cxnLst/>
            <a:rect l="l" t="t" r="r" b="b"/>
            <a:pathLst>
              <a:path w="10668000" h="9525">
                <a:moveTo>
                  <a:pt x="0" y="0"/>
                </a:moveTo>
                <a:lnTo>
                  <a:pt x="10668000" y="0"/>
                </a:lnTo>
              </a:path>
            </a:pathLst>
          </a:custGeom>
          <a:noFill/>
          <a:ln w="9525">
            <a:solidFill>
              <a:srgbClr val="252640"/>
            </a:solidFill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20166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Real-world Problem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754380" y="1171575"/>
            <a:ext cx="4115860" cy="3690176"/>
            <a:chOff x="754380" y="1171575"/>
            <a:chExt cx="4115860" cy="3690176"/>
          </a:xfrm>
        </p:grpSpPr>
        <p:sp>
          <p:nvSpPr>
            <p:cNvPr id="4" name="TextBox 4"/>
            <p:cNvSpPr txBox="1"/>
            <p:nvPr/>
          </p:nvSpPr>
          <p:spPr>
            <a:xfrm>
              <a:off x="754380" y="1171575"/>
              <a:ext cx="276915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Coffee Shop Order System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5142" y="1568768"/>
              <a:ext cx="40343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You own a coffee shop. Your system needs to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816418"/>
              <a:ext cx="38211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handle beverages with various condiments: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45642" y="2235518"/>
              <a:ext cx="39245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 Roast, House Blend, Espresso, Decaf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5642" y="2521268"/>
              <a:ext cx="31199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Milk, Mocha, Soy, Whipped Cream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55142" y="2997518"/>
              <a:ext cx="36905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Each combination changes the description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55142" y="3245168"/>
              <a:ext cx="28942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and the total cost of the order.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4380" y="3743325"/>
              <a:ext cx="1502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The Challenge: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102418"/>
              <a:ext cx="35909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How do you design a flexible system that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350068"/>
              <a:ext cx="38120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supports unlimited condiment combinations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55142" y="4597718"/>
              <a:ext cx="29215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without modifying existing code?</a:t>
              </a:r>
            </a:p>
          </p:txBody>
        </p:sp>
      </p:grpSp>
      <p:pic>
        <p:nvPicPr>
          <p:cNvPr id="16" name="Image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1047750"/>
            <a:ext cx="3556000" cy="4762500"/>
          </a:xfrm>
          <a:prstGeom prst="rect">
            <a:avLst/>
          </a:prstGeom>
        </p:spPr>
      </p:pic>
      <p:sp>
        <p:nvSpPr>
          <p:cNvPr id="17" name="Rectangle 1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79030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Naive Solution 1: Inheritance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55142" y="1092518"/>
            <a:ext cx="4454075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Create a subclass for every possible combination: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572000" y="1524000"/>
            <a:ext cx="3048000" cy="457200"/>
            <a:chOff x="4572000" y="1524000"/>
            <a:chExt cx="3048000" cy="457200"/>
          </a:xfrm>
        </p:grpSpPr>
        <p:sp>
          <p:nvSpPr>
            <p:cNvPr id="5" name="Rectangle 5"/>
            <p:cNvSpPr/>
            <p:nvPr/>
          </p:nvSpPr>
          <p:spPr>
            <a:xfrm>
              <a:off x="4572000" y="1524000"/>
              <a:ext cx="3048000" cy="457200"/>
            </a:xfrm>
            <a:prstGeom prst="roundRect">
              <a:avLst>
                <a:gd name="adj" fmla="val 12500"/>
              </a:avLst>
            </a:prstGeom>
            <a:solidFill>
              <a:srgbClr val="252640"/>
            </a:solidFill>
            <a:ln w="14288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09055" y="1664018"/>
              <a:ext cx="19738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Beverage (Abstract)</a:t>
              </a:r>
            </a:p>
          </p:txBody>
        </p:sp>
      </p:grpSp>
      <p:sp>
        <p:nvSpPr>
          <p:cNvPr id="8" name="Line 8"/>
          <p:cNvSpPr/>
          <p:nvPr/>
        </p:nvSpPr>
        <p:spPr>
          <a:xfrm>
            <a:off x="6096000" y="1981200"/>
            <a:ext cx="9525" cy="304800"/>
          </a:xfrm>
          <a:custGeom>
            <a:avLst/>
            <a:gdLst/>
            <a:ahLst/>
            <a:cxnLst/>
            <a:rect l="l" t="t" r="r" b="b"/>
            <a:pathLst>
              <a:path w="9525" h="304800">
                <a:moveTo>
                  <a:pt x="0" y="0"/>
                </a:moveTo>
                <a:lnTo>
                  <a:pt x="0" y="304800"/>
                </a:lnTo>
              </a:path>
            </a:pathLst>
          </a:custGeom>
          <a:noFill/>
          <a:ln w="9525">
            <a:solidFill>
              <a:srgbClr val="6C63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Line 9"/>
          <p:cNvSpPr/>
          <p:nvPr/>
        </p:nvSpPr>
        <p:spPr>
          <a:xfrm>
            <a:off x="1905000" y="2286000"/>
            <a:ext cx="8382000" cy="9525"/>
          </a:xfrm>
          <a:custGeom>
            <a:avLst/>
            <a:gdLst/>
            <a:ahLst/>
            <a:cxnLst/>
            <a:rect l="l" t="t" r="r" b="b"/>
            <a:pathLst>
              <a:path w="8382000" h="9525">
                <a:moveTo>
                  <a:pt x="0" y="0"/>
                </a:moveTo>
                <a:lnTo>
                  <a:pt x="8382000" y="0"/>
                </a:lnTo>
              </a:path>
            </a:pathLst>
          </a:custGeom>
          <a:noFill/>
          <a:ln w="9525">
            <a:solidFill>
              <a:srgbClr val="6C63FF"/>
            </a:solidFill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952500" y="2286000"/>
            <a:ext cx="1905000" cy="666750"/>
            <a:chOff x="952500" y="2286000"/>
            <a:chExt cx="1905000" cy="666750"/>
          </a:xfrm>
        </p:grpSpPr>
        <p:sp>
          <p:nvSpPr>
            <p:cNvPr id="10" name="Line 10"/>
            <p:cNvSpPr/>
            <p:nvPr/>
          </p:nvSpPr>
          <p:spPr>
            <a:xfrm>
              <a:off x="19050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Rectangle 11"/>
            <p:cNvSpPr/>
            <p:nvPr/>
          </p:nvSpPr>
          <p:spPr>
            <a:xfrm>
              <a:off x="952500" y="257175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45422" y="2706052"/>
              <a:ext cx="719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DarkRoast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3048000" y="2286000"/>
            <a:ext cx="1905000" cy="666750"/>
            <a:chOff x="3048000" y="2286000"/>
            <a:chExt cx="1905000" cy="666750"/>
          </a:xfrm>
        </p:grpSpPr>
        <p:sp>
          <p:nvSpPr>
            <p:cNvPr id="14" name="Line 14"/>
            <p:cNvSpPr/>
            <p:nvPr/>
          </p:nvSpPr>
          <p:spPr>
            <a:xfrm>
              <a:off x="40005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15"/>
            <p:cNvSpPr/>
            <p:nvPr/>
          </p:nvSpPr>
          <p:spPr>
            <a:xfrm>
              <a:off x="3048000" y="257175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504715" y="2706052"/>
              <a:ext cx="991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DarkRoastMilk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5143500" y="2286000"/>
            <a:ext cx="1905000" cy="666750"/>
            <a:chOff x="5143500" y="2286000"/>
            <a:chExt cx="1905000" cy="666750"/>
          </a:xfrm>
        </p:grpSpPr>
        <p:sp>
          <p:nvSpPr>
            <p:cNvPr id="18" name="Line 18"/>
            <p:cNvSpPr/>
            <p:nvPr/>
          </p:nvSpPr>
          <p:spPr>
            <a:xfrm>
              <a:off x="60960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143500" y="257175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525557" y="2706052"/>
              <a:ext cx="114088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DarkRoastMocha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239000" y="2286000"/>
            <a:ext cx="1905000" cy="666750"/>
            <a:chOff x="7239000" y="2286000"/>
            <a:chExt cx="1905000" cy="666750"/>
          </a:xfrm>
        </p:grpSpPr>
        <p:sp>
          <p:nvSpPr>
            <p:cNvPr id="22" name="Line 22"/>
            <p:cNvSpPr/>
            <p:nvPr/>
          </p:nvSpPr>
          <p:spPr>
            <a:xfrm>
              <a:off x="81915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7239000" y="257175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84834" y="2706052"/>
              <a:ext cx="14133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DarkRoastMilkMocha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9334500" y="2286000"/>
            <a:ext cx="1905000" cy="666750"/>
            <a:chOff x="9334500" y="2286000"/>
            <a:chExt cx="1905000" cy="666750"/>
          </a:xfrm>
        </p:grpSpPr>
        <p:sp>
          <p:nvSpPr>
            <p:cNvPr id="26" name="Line 26"/>
            <p:cNvSpPr/>
            <p:nvPr/>
          </p:nvSpPr>
          <p:spPr>
            <a:xfrm>
              <a:off x="10287000" y="228600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7"/>
            <p:cNvSpPr/>
            <p:nvPr/>
          </p:nvSpPr>
          <p:spPr>
            <a:xfrm>
              <a:off x="9334500" y="2571750"/>
              <a:ext cx="1905000" cy="3810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698593" y="2706052"/>
              <a:ext cx="117681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... more classes</a:t>
              </a:r>
            </a:p>
          </p:txBody>
        </p:sp>
      </p:grpSp>
      <p:sp>
        <p:nvSpPr>
          <p:cNvPr id="30" name="Rectangle 30"/>
          <p:cNvSpPr/>
          <p:nvPr/>
        </p:nvSpPr>
        <p:spPr>
          <a:xfrm>
            <a:off x="762000" y="3619500"/>
            <a:ext cx="10668000" cy="1524000"/>
          </a:xfrm>
          <a:prstGeom prst="roundRect">
            <a:avLst>
              <a:gd name="adj" fmla="val 5000"/>
            </a:avLst>
          </a:prstGeom>
          <a:solidFill>
            <a:srgbClr val="252640"/>
          </a:solidFill>
          <a:ln w="14288">
            <a:solidFill>
              <a:srgbClr val="FF6B6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Box 31"/>
          <p:cNvSpPr txBox="1"/>
          <p:nvPr/>
        </p:nvSpPr>
        <p:spPr>
          <a:xfrm>
            <a:off x="1134618" y="3822382"/>
            <a:ext cx="2990970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FF6B6B"/>
                </a:solidFill>
                <a:latin typeface="Segoe UI"/>
                <a:ea typeface="Segoe UI"/>
                <a:cs typeface="Segoe UI"/>
              </a:rPr>
              <a:t>⚠ Class Explosion Problem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136142" y="4235768"/>
            <a:ext cx="439155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With 4 beverages × 4 condiments (each optional):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132332" y="4459605"/>
            <a:ext cx="4325474" cy="41071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1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4 × 2⁴ = 64 subclasses needed!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136904" y="4842510"/>
            <a:ext cx="4064456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Each new condiment doubles the number of classes.</a:t>
            </a:r>
          </a:p>
        </p:txBody>
      </p:sp>
      <p:sp>
        <p:nvSpPr>
          <p:cNvPr id="35" name="Rectangle 3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Box 36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4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0906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Naive Solution 2: Boolean Flags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143000"/>
            <a:ext cx="5143500" cy="4191000"/>
          </a:xfrm>
          <a:prstGeom prst="roundRect">
            <a:avLst>
              <a:gd name="adj" fmla="val 1818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946785" y="1307306"/>
            <a:ext cx="2647762" cy="3029903"/>
            <a:chOff x="946785" y="1307306"/>
            <a:chExt cx="2647762" cy="3029903"/>
          </a:xfrm>
        </p:grpSpPr>
        <p:sp>
          <p:nvSpPr>
            <p:cNvPr id="5" name="TextBox 5"/>
            <p:cNvSpPr txBox="1"/>
            <p:nvPr/>
          </p:nvSpPr>
          <p:spPr>
            <a:xfrm>
              <a:off x="946785" y="1307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346835" y="1307306"/>
              <a:ext cx="679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2108835" y="1307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785" y="1545431"/>
              <a:ext cx="26477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Boolean flags for each condiment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785" y="17835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bool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327785" y="1783556"/>
              <a:ext cx="17830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milk, mocha, soy, whip;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6785" y="211693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518285" y="2116931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1660" y="211693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 {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6785" y="23550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65910" y="2355056"/>
              <a:ext cx="148031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total = baseCost();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785" y="2640806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if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137285" y="2640806"/>
              <a:ext cx="13080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(milk) total += 5;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46785" y="2878931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if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2878931"/>
              <a:ext cx="15493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(mocha) total += 10;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785" y="3117056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if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3117056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(soy) total += 8;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46785" y="3355181"/>
              <a:ext cx="13958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if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37285" y="3355181"/>
              <a:ext cx="13457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(whip) total += 7;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946785" y="3640931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489710" y="3640931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total;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46785" y="38790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6785" y="411718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468618" y="1345882"/>
            <a:ext cx="4961382" cy="3149918"/>
            <a:chOff x="6468618" y="1345882"/>
            <a:chExt cx="4961382" cy="3149918"/>
          </a:xfrm>
        </p:grpSpPr>
        <p:sp>
          <p:nvSpPr>
            <p:cNvPr id="29" name="TextBox 29"/>
            <p:cNvSpPr txBox="1"/>
            <p:nvPr/>
          </p:nvSpPr>
          <p:spPr>
            <a:xfrm>
              <a:off x="6468618" y="1345882"/>
              <a:ext cx="253343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Looks simpler, but...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477000" y="1809750"/>
              <a:ext cx="4953000" cy="5715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61404" y="1927860"/>
              <a:ext cx="3176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6B6B"/>
                  </a:solidFill>
                  <a:latin typeface="Segoe UI"/>
                  <a:ea typeface="Segoe UI"/>
                  <a:cs typeface="Segoe UI"/>
                </a:rPr>
                <a:t>✗ Adding a condiment = modify the class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62166" y="2153602"/>
              <a:ext cx="210595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Violates Open-Closed Principle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6477000" y="2514600"/>
              <a:ext cx="4953000" cy="5715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61404" y="2632710"/>
              <a:ext cx="3645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6B6B"/>
                  </a:solidFill>
                  <a:latin typeface="Segoe UI"/>
                  <a:ea typeface="Segoe UI"/>
                  <a:cs typeface="Segoe UI"/>
                </a:rPr>
                <a:t>✗ Can't add two shots of the same condiment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662166" y="2858452"/>
              <a:ext cx="22209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Boolean = on or off, no quantity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477000" y="3219450"/>
              <a:ext cx="4953000" cy="5715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61404" y="3337560"/>
              <a:ext cx="34530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6B6B"/>
                  </a:solidFill>
                  <a:latin typeface="Segoe UI"/>
                  <a:ea typeface="Segoe UI"/>
                  <a:cs typeface="Segoe UI"/>
                </a:rPr>
                <a:t>✗ cost() becomes a maintenance nightmare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62166" y="3563302"/>
              <a:ext cx="297676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Every new condiment adds another if-block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3924300"/>
              <a:ext cx="4953000" cy="5715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61404" y="4042410"/>
              <a:ext cx="34181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6B6B"/>
                  </a:solidFill>
                  <a:latin typeface="Segoe UI"/>
                  <a:ea typeface="Segoe UI"/>
                  <a:cs typeface="Segoe UI"/>
                </a:rPr>
                <a:t>✗ Not all condiments apply to all beverages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2166" y="4268152"/>
              <a:ext cx="26993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Tea with whip? Espresso with soy milk?</a:t>
              </a:r>
            </a:p>
          </p:txBody>
        </p:sp>
      </p:grpSp>
      <p:sp>
        <p:nvSpPr>
          <p:cNvPr id="43" name="Rectangle 43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5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28157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Problems with Naive Approaches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143000"/>
            <a:ext cx="5143500" cy="2286000"/>
          </a:xfrm>
          <a:prstGeom prst="roundRect">
            <a:avLst>
              <a:gd name="adj" fmla="val 4167"/>
            </a:avLst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14300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126236" y="1243965"/>
            <a:ext cx="477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dirty="0">
                <a:solidFill>
                  <a:srgbClr val="FF6B6B"/>
                </a:solidFill>
                <a:latin typeface="Segoe UI"/>
                <a:ea typeface="Segoe UI"/>
                <a:cs typeface="Segoe UI"/>
              </a:rPr>
              <a:t>💥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668018" y="1422082"/>
            <a:ext cx="1721348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Class Explosion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36523" y="1814989"/>
            <a:ext cx="362876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Every combination of beverage + condiment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36523" y="2053114"/>
            <a:ext cx="254596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requires a separate subclass.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137285" y="2402681"/>
            <a:ext cx="351522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N beverages × 2ᴷ condiments = too many classes</a:t>
            </a:r>
          </a:p>
        </p:txBody>
      </p:sp>
      <p:sp>
        <p:nvSpPr>
          <p:cNvPr id="11" name="Rectangle 11"/>
          <p:cNvSpPr/>
          <p:nvPr/>
        </p:nvSpPr>
        <p:spPr>
          <a:xfrm>
            <a:off x="6286500" y="1143000"/>
            <a:ext cx="5143500" cy="2286000"/>
          </a:xfrm>
          <a:prstGeom prst="roundRect">
            <a:avLst>
              <a:gd name="adj" fmla="val 4167"/>
            </a:avLst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Rectangle 12"/>
          <p:cNvSpPr/>
          <p:nvPr/>
        </p:nvSpPr>
        <p:spPr>
          <a:xfrm>
            <a:off x="6286500" y="114300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Box 13"/>
          <p:cNvSpPr txBox="1"/>
          <p:nvPr/>
        </p:nvSpPr>
        <p:spPr>
          <a:xfrm>
            <a:off x="6650736" y="1243965"/>
            <a:ext cx="477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dirty="0">
                <a:solidFill>
                  <a:srgbClr val="FF6B6B"/>
                </a:solidFill>
                <a:latin typeface="Segoe UI"/>
                <a:ea typeface="Segoe UI"/>
                <a:cs typeface="Segoe UI"/>
              </a:rPr>
              <a:t>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192518" y="1422082"/>
            <a:ext cx="2014174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Hard Maintenance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61023" y="1814989"/>
            <a:ext cx="2835977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Changing the price of a condiment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661023" y="2053114"/>
            <a:ext cx="2985364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requires editing dozens of classes.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661785" y="2402681"/>
            <a:ext cx="2662870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Bug-prone, time-consuming updates</a:t>
            </a:r>
          </a:p>
        </p:txBody>
      </p:sp>
      <p:sp>
        <p:nvSpPr>
          <p:cNvPr id="18" name="Rectangle 18"/>
          <p:cNvSpPr/>
          <p:nvPr/>
        </p:nvSpPr>
        <p:spPr>
          <a:xfrm>
            <a:off x="762000" y="3714750"/>
            <a:ext cx="5143500" cy="2286000"/>
          </a:xfrm>
          <a:prstGeom prst="roundRect">
            <a:avLst>
              <a:gd name="adj" fmla="val 4167"/>
            </a:avLst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Rectangle 19"/>
          <p:cNvSpPr/>
          <p:nvPr/>
        </p:nvSpPr>
        <p:spPr>
          <a:xfrm>
            <a:off x="762000" y="3714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126236" y="3815715"/>
            <a:ext cx="477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dirty="0">
                <a:solidFill>
                  <a:srgbClr val="FF6B6B"/>
                </a:solidFill>
                <a:latin typeface="Segoe UI"/>
                <a:ea typeface="Segoe UI"/>
                <a:cs typeface="Segoe UI"/>
              </a:rPr>
              <a:t>🚫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668018" y="3993832"/>
            <a:ext cx="1525713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OCP Violation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1136523" y="4386739"/>
            <a:ext cx="3424486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Open-Closed Principle: classes should be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136523" y="4624864"/>
            <a:ext cx="3786622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open for extension, closed for modification.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137285" y="4974431"/>
            <a:ext cx="3566952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Both approaches require modifying existing code</a:t>
            </a:r>
          </a:p>
        </p:txBody>
      </p:sp>
      <p:sp>
        <p:nvSpPr>
          <p:cNvPr id="25" name="Rectangle 25"/>
          <p:cNvSpPr/>
          <p:nvPr/>
        </p:nvSpPr>
        <p:spPr>
          <a:xfrm>
            <a:off x="6286500" y="3714750"/>
            <a:ext cx="5143500" cy="2286000"/>
          </a:xfrm>
          <a:prstGeom prst="roundRect">
            <a:avLst>
              <a:gd name="adj" fmla="val 4167"/>
            </a:avLst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Rectangle 26"/>
          <p:cNvSpPr/>
          <p:nvPr/>
        </p:nvSpPr>
        <p:spPr>
          <a:xfrm>
            <a:off x="6286500" y="3714750"/>
            <a:ext cx="5143500" cy="57150"/>
          </a:xfrm>
          <a:prstGeom prst="roundRect">
            <a:avLst>
              <a:gd name="adj" fmla="val 50000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6650736" y="3815715"/>
            <a:ext cx="477774" cy="64541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3300" dirty="0">
                <a:solidFill>
                  <a:srgbClr val="FF6B6B"/>
                </a:solidFill>
                <a:latin typeface="Segoe UI"/>
                <a:ea typeface="Segoe UI"/>
                <a:cs typeface="Segoe UI"/>
              </a:rPr>
              <a:t>⛓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7192518" y="3993832"/>
            <a:ext cx="2439421" cy="322707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65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No Runtime Flexibility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6661023" y="4386739"/>
            <a:ext cx="271576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Can't add or remove condiments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6661023" y="4624864"/>
            <a:ext cx="4114018" cy="24936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8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at runtime — everything is fixed at compile time.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6661785" y="4974431"/>
            <a:ext cx="2534277" cy="220028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12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Users want dynamic customization</a:t>
            </a:r>
          </a:p>
        </p:txBody>
      </p:sp>
      <p:sp>
        <p:nvSpPr>
          <p:cNvPr id="32" name="Rectangle 32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6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31453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Decorator Pattern Introduction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53618" y="1250632"/>
            <a:ext cx="5791318" cy="3820669"/>
            <a:chOff x="753618" y="1250632"/>
            <a:chExt cx="5791318" cy="3820669"/>
          </a:xfrm>
        </p:grpSpPr>
        <p:sp>
          <p:nvSpPr>
            <p:cNvPr id="4" name="TextBox 4"/>
            <p:cNvSpPr txBox="1"/>
            <p:nvPr/>
          </p:nvSpPr>
          <p:spPr>
            <a:xfrm>
              <a:off x="753618" y="1250632"/>
              <a:ext cx="441672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The Solution: Dynamic Object Wrapping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5142" y="1711642"/>
              <a:ext cx="54172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Instead of using inheritance to add behavior at compile time,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997392"/>
              <a:ext cx="50784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use </a:t>
              </a:r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Composition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to wrap objects dynamically at runtime.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571750"/>
              <a:ext cx="5143500" cy="1143000"/>
            </a:xfrm>
            <a:prstGeom prst="roundRect">
              <a:avLst>
                <a:gd name="adj" fmla="val 6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807018"/>
              <a:ext cx="12874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🔑 Key Insight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3156585"/>
              <a:ext cx="44982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The wrapper (Decorator) implements the same interface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3394710"/>
              <a:ext cx="18053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as the object it wraps!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4045268"/>
              <a:ext cx="53808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Attach additional responsibilities to an object dynamically.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426268"/>
              <a:ext cx="57897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Flexible alternative to subclassing for extending functionality.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807268"/>
              <a:ext cx="52361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Wrappers can be stacked in any sequence or combination.</a:t>
              </a:r>
            </a:p>
          </p:txBody>
        </p:sp>
      </p:grp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33500"/>
            <a:ext cx="4572000" cy="45720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7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92066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Formal Definition (GoF)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333500"/>
            <a:ext cx="10668000" cy="1428750"/>
          </a:xfrm>
          <a:prstGeom prst="roundRect">
            <a:avLst>
              <a:gd name="adj" fmla="val 6667"/>
            </a:avLst>
          </a:prstGeom>
          <a:solidFill>
            <a:srgbClr val="252640"/>
          </a:solidFill>
          <a:ln w="14288">
            <a:solidFill>
              <a:srgbClr val="6C63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33856" y="1615440"/>
            <a:ext cx="74683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i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"Attach additional responsibilities to an object dynamically.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3856" y="1996440"/>
            <a:ext cx="746836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i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Decorators provide a flexible alternative to subclassing for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133856" y="2377440"/>
            <a:ext cx="3198686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i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extending functionality."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0152" y="2442210"/>
            <a:ext cx="313494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20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— Design Patterns (Gang of Four, 1994)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762000" y="3143250"/>
            <a:ext cx="3238500" cy="2857500"/>
            <a:chOff x="762000" y="3143250"/>
            <a:chExt cx="3238500" cy="2857500"/>
          </a:xfrm>
        </p:grpSpPr>
        <p:sp>
          <p:nvSpPr>
            <p:cNvPr id="9" name="Rectangle 9"/>
            <p:cNvSpPr/>
            <p:nvPr/>
          </p:nvSpPr>
          <p:spPr>
            <a:xfrm>
              <a:off x="762000" y="3143250"/>
              <a:ext cx="3238500" cy="2857500"/>
            </a:xfrm>
            <a:prstGeom prst="roundRect">
              <a:avLst>
                <a:gd name="adj" fmla="val 2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130" y="3409950"/>
              <a:ext cx="206715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1. Wrapper Concept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3823335"/>
              <a:ext cx="18809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Also known as </a:t>
              </a:r>
              <a:r>
                <a:rPr lang="en-US" sz="1200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Wrapper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1654" y="4109085"/>
              <a:ext cx="19478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Encloses a target object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4394835"/>
              <a:ext cx="20799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inside a decorator object.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2035" y="4831556"/>
              <a:ext cx="1976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Passes requests to target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2035" y="5069681"/>
              <a:ext cx="17604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and performs additional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2035" y="5307806"/>
              <a:ext cx="16774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actions before/after.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476750" y="3143250"/>
            <a:ext cx="3238500" cy="2857500"/>
            <a:chOff x="4476750" y="3143250"/>
            <a:chExt cx="3238500" cy="2857500"/>
          </a:xfrm>
        </p:grpSpPr>
        <p:sp>
          <p:nvSpPr>
            <p:cNvPr id="18" name="Rectangle 18"/>
            <p:cNvSpPr/>
            <p:nvPr/>
          </p:nvSpPr>
          <p:spPr>
            <a:xfrm>
              <a:off x="4476750" y="3143250"/>
              <a:ext cx="3238500" cy="2857500"/>
            </a:xfrm>
            <a:prstGeom prst="roundRect">
              <a:avLst>
                <a:gd name="adj" fmla="val 2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54880" y="3409950"/>
              <a:ext cx="230970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2. Interface Matching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6404" y="3823335"/>
              <a:ext cx="18349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 conforms to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6404" y="4109085"/>
              <a:ext cx="20557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the component interface.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56785" y="4545806"/>
              <a:ext cx="163708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Client treats wrapped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6785" y="4783931"/>
              <a:ext cx="15719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objects identically to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6785" y="5022056"/>
              <a:ext cx="18358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unwrapped base objects.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756785" y="5307806"/>
              <a:ext cx="16522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Transparent to client!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8191500" y="3143250"/>
            <a:ext cx="3238500" cy="2857500"/>
            <a:chOff x="8191500" y="3143250"/>
            <a:chExt cx="3238500" cy="2857500"/>
          </a:xfrm>
        </p:grpSpPr>
        <p:sp>
          <p:nvSpPr>
            <p:cNvPr id="27" name="Rectangle 27"/>
            <p:cNvSpPr/>
            <p:nvPr/>
          </p:nvSpPr>
          <p:spPr>
            <a:xfrm>
              <a:off x="8191500" y="3143250"/>
              <a:ext cx="3238500" cy="2857500"/>
            </a:xfrm>
            <a:prstGeom prst="roundRect">
              <a:avLst>
                <a:gd name="adj" fmla="val 2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69630" y="3409950"/>
              <a:ext cx="215050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3. Recursive Nesting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71154" y="3823335"/>
              <a:ext cx="16573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Decorators can wrap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71154" y="4109085"/>
              <a:ext cx="148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other Decorators.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1535" y="4545806"/>
              <a:ext cx="15617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Creates an arbitrary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1535" y="4783931"/>
              <a:ext cx="123270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chain/pipeline of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1535" y="5022056"/>
              <a:ext cx="16021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behaviors executed in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1535" y="5260181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nested order.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8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46424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Core Design Principle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1143000"/>
          </a:xfrm>
          <a:prstGeom prst="roundRect">
            <a:avLst>
              <a:gd name="adj" fmla="val 6667"/>
            </a:avLst>
          </a:prstGeom>
          <a:solidFill>
            <a:srgbClr val="252640"/>
          </a:solidFill>
          <a:ln w="14288">
            <a:solidFill>
              <a:srgbClr val="00D4AA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1133856" y="1472565"/>
            <a:ext cx="3570732" cy="352044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800" b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Open-Closed Principle (OCP)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135380" y="1885950"/>
            <a:ext cx="7009638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"Classes should be OPEN for extension, but CLOSED for modification."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762000" y="2762250"/>
            <a:ext cx="5143500" cy="3429000"/>
            <a:chOff x="762000" y="2762250"/>
            <a:chExt cx="5143500" cy="3429000"/>
          </a:xfrm>
        </p:grpSpPr>
        <p:sp>
          <p:nvSpPr>
            <p:cNvPr id="7" name="Rectangle 7"/>
            <p:cNvSpPr/>
            <p:nvPr/>
          </p:nvSpPr>
          <p:spPr>
            <a:xfrm>
              <a:off x="762000" y="2762250"/>
              <a:ext cx="5143500" cy="3429000"/>
            </a:xfrm>
            <a:prstGeom prst="roundRect">
              <a:avLst>
                <a:gd name="adj" fmla="val 2222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4618" y="3012758"/>
              <a:ext cx="221288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Open for Extension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142" y="3521392"/>
              <a:ext cx="34824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You can add new behavior or features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36142" y="3807142"/>
              <a:ext cx="1113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at any time.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142" y="4283392"/>
              <a:ext cx="37306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Simply create a new Concrete Decorator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136142" y="4569142"/>
              <a:ext cx="86788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subclass.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142" y="5045392"/>
              <a:ext cx="32548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Dynamically compose new behaviors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6142" y="5331142"/>
              <a:ext cx="27852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without altering existing code.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286500" y="2762250"/>
            <a:ext cx="5143500" cy="3429000"/>
            <a:chOff x="6286500" y="2762250"/>
            <a:chExt cx="5143500" cy="3429000"/>
          </a:xfrm>
        </p:grpSpPr>
        <p:sp>
          <p:nvSpPr>
            <p:cNvPr id="16" name="Rectangle 16"/>
            <p:cNvSpPr/>
            <p:nvPr/>
          </p:nvSpPr>
          <p:spPr>
            <a:xfrm>
              <a:off x="6286500" y="2762250"/>
              <a:ext cx="5143500" cy="3429000"/>
            </a:xfrm>
            <a:prstGeom prst="roundRect">
              <a:avLst>
                <a:gd name="adj" fmla="val 2222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59118" y="3012758"/>
              <a:ext cx="267818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FF6B6B"/>
                  </a:solidFill>
                  <a:latin typeface="Segoe UI"/>
                  <a:ea typeface="Segoe UI"/>
                  <a:cs typeface="Segoe UI"/>
                </a:rPr>
                <a:t>Closed for Modification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60642" y="3521392"/>
              <a:ext cx="37820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Existing tested code remains untouched.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660642" y="3997642"/>
              <a:ext cx="32554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Base components don't know about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660642" y="4283392"/>
              <a:ext cx="24489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decorators wrapping them.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660642" y="4759642"/>
              <a:ext cx="3245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Eliminates risk of introducing bugs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660642" y="5045392"/>
              <a:ext cx="26761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into working production code.</a:t>
              </a:r>
            </a:p>
          </p:txBody>
        </p:sp>
      </p:grpSp>
      <p:sp>
        <p:nvSpPr>
          <p:cNvPr id="24" name="Rectangle 2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Box 25"/>
          <p:cNvSpPr txBox="1"/>
          <p:nvPr/>
        </p:nvSpPr>
        <p:spPr>
          <a:xfrm>
            <a:off x="11028883" y="6649402"/>
            <a:ext cx="40645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9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0487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UML Class Diagram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9" name="Group 9"/>
          <p:cNvGrpSpPr/>
          <p:nvPr/>
        </p:nvGrpSpPr>
        <p:grpSpPr>
          <a:xfrm>
            <a:off x="4667250" y="1143000"/>
            <a:ext cx="2857500" cy="873061"/>
            <a:chOff x="4667250" y="1143000"/>
            <a:chExt cx="2857500" cy="873061"/>
          </a:xfrm>
        </p:grpSpPr>
        <p:sp>
          <p:nvSpPr>
            <p:cNvPr id="4" name="Rectangle 4"/>
            <p:cNvSpPr/>
            <p:nvPr/>
          </p:nvSpPr>
          <p:spPr>
            <a:xfrm>
              <a:off x="4667250" y="1143000"/>
              <a:ext cx="2857500" cy="857250"/>
            </a:xfrm>
            <a:prstGeom prst="roundRect">
              <a:avLst>
                <a:gd name="adj" fmla="val 4444"/>
              </a:avLst>
            </a:prstGeom>
            <a:solidFill>
              <a:srgbClr val="252640"/>
            </a:solidFill>
            <a:ln w="14288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5570113" y="1307306"/>
              <a:ext cx="105177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i="1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&lt;&lt;interface&gt;&gt;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666359" y="1521142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Beverage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4667250" y="1762125"/>
              <a:ext cx="2857500" cy="9525"/>
            </a:xfrm>
            <a:custGeom>
              <a:avLst/>
              <a:gdLst/>
              <a:ahLst/>
              <a:cxnLst/>
              <a:rect l="l" t="t" r="r" b="b"/>
              <a:pathLst>
                <a:path w="2857500" h="9525">
                  <a:moveTo>
                    <a:pt x="0" y="0"/>
                  </a:moveTo>
                  <a:lnTo>
                    <a:pt x="2857500" y="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804791" y="1810702"/>
              <a:ext cx="114854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+ cost(): double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1714500" y="2762250"/>
            <a:ext cx="2667000" cy="857250"/>
            <a:chOff x="1714500" y="2762250"/>
            <a:chExt cx="2667000" cy="857250"/>
          </a:xfrm>
        </p:grpSpPr>
        <p:sp>
          <p:nvSpPr>
            <p:cNvPr id="10" name="Rectangle 10"/>
            <p:cNvSpPr/>
            <p:nvPr/>
          </p:nvSpPr>
          <p:spPr>
            <a:xfrm>
              <a:off x="1714500" y="2762250"/>
              <a:ext cx="2667000" cy="857250"/>
            </a:xfrm>
            <a:prstGeom prst="roundRect">
              <a:avLst>
                <a:gd name="adj" fmla="val 4444"/>
              </a:avLst>
            </a:prstGeom>
            <a:solidFill>
              <a:srgbClr val="252640"/>
            </a:solidFill>
            <a:ln w="14288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618359" y="2949892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Espresso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1714500" y="32385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852041" y="3334702"/>
              <a:ext cx="162206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+ cost(): double = 1.99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810500" y="2762250"/>
            <a:ext cx="2667000" cy="1047750"/>
            <a:chOff x="7810500" y="2762250"/>
            <a:chExt cx="2667000" cy="1047750"/>
          </a:xfrm>
        </p:grpSpPr>
        <p:sp>
          <p:nvSpPr>
            <p:cNvPr id="15" name="Rectangle 15"/>
            <p:cNvSpPr/>
            <p:nvPr/>
          </p:nvSpPr>
          <p:spPr>
            <a:xfrm>
              <a:off x="7810500" y="2762250"/>
              <a:ext cx="2667000" cy="1047750"/>
            </a:xfrm>
            <a:prstGeom prst="roundRect">
              <a:avLst>
                <a:gd name="adj" fmla="val 3636"/>
              </a:avLst>
            </a:prstGeom>
            <a:solidFill>
              <a:srgbClr val="252640"/>
            </a:solidFill>
            <a:ln w="14288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40729" y="2926556"/>
              <a:ext cx="100654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i="1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&lt;&lt;abstract&gt;&gt;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191424" y="3111818"/>
              <a:ext cx="19051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CondimentDecorator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810500" y="33528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48422" y="3418999"/>
              <a:ext cx="1472863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# beverage: Beverage*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948422" y="3590449"/>
              <a:ext cx="1659001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+ cost(): double override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6477000" y="4572000"/>
            <a:ext cx="2476500" cy="762000"/>
            <a:chOff x="6477000" y="4572000"/>
            <a:chExt cx="2476500" cy="762000"/>
          </a:xfrm>
        </p:grpSpPr>
        <p:sp>
          <p:nvSpPr>
            <p:cNvPr id="22" name="Rectangle 22"/>
            <p:cNvSpPr/>
            <p:nvPr/>
          </p:nvSpPr>
          <p:spPr>
            <a:xfrm>
              <a:off x="6477000" y="4572000"/>
              <a:ext cx="2476500" cy="762000"/>
            </a:xfrm>
            <a:prstGeom prst="roundRect">
              <a:avLst>
                <a:gd name="adj" fmla="val 5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545734" y="4775835"/>
              <a:ext cx="3390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Milk</a:t>
              </a:r>
            </a:p>
          </p:txBody>
        </p:sp>
        <p:sp>
          <p:nvSpPr>
            <p:cNvPr id="24" name="Line 24"/>
            <p:cNvSpPr/>
            <p:nvPr/>
          </p:nvSpPr>
          <p:spPr>
            <a:xfrm>
              <a:off x="6477000" y="50292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614922" y="5114449"/>
              <a:ext cx="21999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+ cost(): double = wrapped + 0.10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9334500" y="4572000"/>
            <a:ext cx="2476500" cy="762000"/>
            <a:chOff x="9334500" y="4572000"/>
            <a:chExt cx="2476500" cy="762000"/>
          </a:xfrm>
        </p:grpSpPr>
        <p:sp>
          <p:nvSpPr>
            <p:cNvPr id="27" name="Rectangle 27"/>
            <p:cNvSpPr/>
            <p:nvPr/>
          </p:nvSpPr>
          <p:spPr>
            <a:xfrm>
              <a:off x="9334500" y="4572000"/>
              <a:ext cx="2476500" cy="762000"/>
            </a:xfrm>
            <a:prstGeom prst="roundRect">
              <a:avLst>
                <a:gd name="adj" fmla="val 5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313630" y="4775835"/>
              <a:ext cx="51823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Mocha</a:t>
              </a:r>
            </a:p>
          </p:txBody>
        </p:sp>
        <p:sp>
          <p:nvSpPr>
            <p:cNvPr id="29" name="Line 29"/>
            <p:cNvSpPr/>
            <p:nvPr/>
          </p:nvSpPr>
          <p:spPr>
            <a:xfrm>
              <a:off x="9334500" y="5029200"/>
              <a:ext cx="2476500" cy="9525"/>
            </a:xfrm>
            <a:custGeom>
              <a:avLst/>
              <a:gdLst/>
              <a:ahLst/>
              <a:cxnLst/>
              <a:rect l="l" t="t" r="r" b="b"/>
              <a:pathLst>
                <a:path w="2476500" h="9525">
                  <a:moveTo>
                    <a:pt x="0" y="0"/>
                  </a:moveTo>
                  <a:lnTo>
                    <a:pt x="2476500" y="0"/>
                  </a:lnTo>
                </a:path>
              </a:pathLst>
            </a:custGeom>
            <a:noFill/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72422" y="5114449"/>
              <a:ext cx="219990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+ cost(): double = wrapped + 0.20</a:t>
              </a:r>
            </a:p>
          </p:txBody>
        </p:sp>
      </p:grpSp>
      <p:sp>
        <p:nvSpPr>
          <p:cNvPr id="32" name="Line 32"/>
          <p:cNvSpPr/>
          <p:nvPr/>
        </p:nvSpPr>
        <p:spPr>
          <a:xfrm>
            <a:off x="3048000" y="2286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3" name="Line 33"/>
          <p:cNvSpPr/>
          <p:nvPr/>
        </p:nvSpPr>
        <p:spPr>
          <a:xfrm>
            <a:off x="3048000" y="2286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0" y="0"/>
                </a:moveTo>
                <a:lnTo>
                  <a:pt x="3048000" y="0"/>
                </a:lnTo>
              </a:path>
            </a:pathLst>
          </a:custGeom>
          <a:noFill/>
          <a:ln w="14288">
            <a:solidFill>
              <a:srgbClr val="80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4" name="Line 34"/>
          <p:cNvSpPr/>
          <p:nvPr/>
        </p:nvSpPr>
        <p:spPr>
          <a:xfrm>
            <a:off x="6096000" y="2000250"/>
            <a:ext cx="9525" cy="285750"/>
          </a:xfrm>
          <a:custGeom>
            <a:avLst/>
            <a:gdLst/>
            <a:ahLst/>
            <a:cxnLst/>
            <a:rect l="l" t="t" r="r" b="b"/>
            <a:pathLst>
              <a:path w="9525"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5" name="Line 35"/>
          <p:cNvSpPr/>
          <p:nvPr/>
        </p:nvSpPr>
        <p:spPr>
          <a:xfrm>
            <a:off x="9144000" y="2286000"/>
            <a:ext cx="9525" cy="476250"/>
          </a:xfrm>
          <a:custGeom>
            <a:avLst/>
            <a:gdLst/>
            <a:ahLst/>
            <a:cxnLst/>
            <a:rect l="l" t="t" r="r" b="b"/>
            <a:pathLst>
              <a:path w="9525" h="476250">
                <a:moveTo>
                  <a:pt x="0" y="47625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6" name="Line 36"/>
          <p:cNvSpPr/>
          <p:nvPr/>
        </p:nvSpPr>
        <p:spPr>
          <a:xfrm>
            <a:off x="6096000" y="2286000"/>
            <a:ext cx="3048000" cy="9525"/>
          </a:xfrm>
          <a:custGeom>
            <a:avLst/>
            <a:gdLst/>
            <a:ahLst/>
            <a:cxnLst/>
            <a:rect l="l" t="t" r="r" b="b"/>
            <a:pathLst>
              <a:path w="3048000" h="9525">
                <a:moveTo>
                  <a:pt x="3048000" y="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37" name="Freeform 37"/>
          <p:cNvSpPr/>
          <p:nvPr/>
        </p:nvSpPr>
        <p:spPr>
          <a:xfrm>
            <a:off x="6096000" y="2000250"/>
            <a:ext cx="1714500" cy="1143000"/>
          </a:xfrm>
          <a:custGeom>
            <a:avLst/>
            <a:gdLst/>
            <a:ahLst/>
            <a:cxnLst/>
            <a:rect l="l" t="t" r="r" b="b"/>
            <a:pathLst>
              <a:path w="1714500" h="1143000">
                <a:moveTo>
                  <a:pt x="1714500" y="1143000"/>
                </a:moveTo>
                <a:lnTo>
                  <a:pt x="0" y="1143000"/>
                </a:lnTo>
                <a:lnTo>
                  <a:pt x="0" y="0"/>
                </a:lnTo>
              </a:path>
            </a:pathLst>
          </a:custGeom>
          <a:noFill/>
          <a:ln w="19050">
            <a:solidFill>
              <a:srgbClr val="6C63FF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Polygon 38"/>
          <p:cNvSpPr/>
          <p:nvPr/>
        </p:nvSpPr>
        <p:spPr>
          <a:xfrm>
            <a:off x="7524750" y="3076575"/>
            <a:ext cx="285750" cy="133350"/>
          </a:xfrm>
          <a:custGeom>
            <a:avLst/>
            <a:gdLst/>
            <a:ahLst/>
            <a:cxnLst/>
            <a:rect l="l" t="t" r="r" b="b"/>
            <a:pathLst>
              <a:path w="285750" h="133350">
                <a:moveTo>
                  <a:pt x="285750" y="66675"/>
                </a:moveTo>
                <a:lnTo>
                  <a:pt x="142875" y="0"/>
                </a:lnTo>
                <a:lnTo>
                  <a:pt x="0" y="66675"/>
                </a:lnTo>
                <a:lnTo>
                  <a:pt x="142875" y="133350"/>
                </a:lnTo>
                <a:close/>
              </a:path>
            </a:pathLst>
          </a:cu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6757797" y="2942749"/>
            <a:ext cx="536297" cy="1906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980" b="1" dirty="0">
                <a:solidFill>
                  <a:srgbClr val="6C63FF"/>
                </a:solidFill>
                <a:latin typeface="Segoe UI"/>
                <a:ea typeface="Segoe UI"/>
                <a:cs typeface="Segoe UI"/>
              </a:rPr>
              <a:t>wraps 1</a:t>
            </a:r>
          </a:p>
        </p:txBody>
      </p:sp>
      <p:sp>
        <p:nvSpPr>
          <p:cNvPr id="40" name="Line 40"/>
          <p:cNvSpPr/>
          <p:nvPr/>
        </p:nvSpPr>
        <p:spPr>
          <a:xfrm>
            <a:off x="7715250" y="41910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Line 41"/>
          <p:cNvSpPr/>
          <p:nvPr/>
        </p:nvSpPr>
        <p:spPr>
          <a:xfrm>
            <a:off x="10572750" y="41910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Line 42"/>
          <p:cNvSpPr/>
          <p:nvPr/>
        </p:nvSpPr>
        <p:spPr>
          <a:xfrm>
            <a:off x="7715250" y="4191000"/>
            <a:ext cx="2857500" cy="9525"/>
          </a:xfrm>
          <a:custGeom>
            <a:avLst/>
            <a:gdLst/>
            <a:ahLst/>
            <a:cxnLst/>
            <a:rect l="l" t="t" r="r" b="b"/>
            <a:pathLst>
              <a:path w="2857500" h="9525">
                <a:moveTo>
                  <a:pt x="0" y="0"/>
                </a:moveTo>
                <a:lnTo>
                  <a:pt x="2857500" y="0"/>
                </a:lnTo>
              </a:path>
            </a:pathLst>
          </a:custGeom>
          <a:noFill/>
          <a:ln w="14288">
            <a:solidFill>
              <a:srgbClr val="80809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Line 43"/>
          <p:cNvSpPr/>
          <p:nvPr/>
        </p:nvSpPr>
        <p:spPr>
          <a:xfrm>
            <a:off x="9144000" y="3810000"/>
            <a:ext cx="9525" cy="381000"/>
          </a:xfrm>
          <a:custGeom>
            <a:avLst/>
            <a:gdLst/>
            <a:ahLst/>
            <a:cxnLst/>
            <a:rect l="l" t="t" r="r" b="b"/>
            <a:pathLst>
              <a:path w="9525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noFill/>
          <a:ln w="14288">
            <a:solidFill>
              <a:srgbClr val="80809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Rectangle 4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Box 45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10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44485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Class Roles in Decorator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62000" y="1238250"/>
            <a:ext cx="5143500" cy="2286000"/>
            <a:chOff x="762000" y="1238250"/>
            <a:chExt cx="51435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51435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Rectangle 5"/>
            <p:cNvSpPr/>
            <p:nvPr/>
          </p:nvSpPr>
          <p:spPr>
            <a:xfrm>
              <a:off x="762000" y="123825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6C63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6993" y="1488758"/>
              <a:ext cx="357745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1. Component (Base Interface)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88898" y="1910239"/>
              <a:ext cx="418034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Defines the interface for objects that can have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8898" y="2148364"/>
              <a:ext cx="36401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responsibilities added to them dynamically.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88898" y="2529364"/>
              <a:ext cx="34567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Abstract base class or pure interface.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89279" y="2918460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Example: Beverage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286500" y="1238250"/>
            <a:ext cx="5143500" cy="2286000"/>
            <a:chOff x="6286500" y="1238250"/>
            <a:chExt cx="51435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6286500" y="1238250"/>
              <a:ext cx="51435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286500" y="123825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00D4A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611493" y="1488758"/>
              <a:ext cx="258763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2. ConcreteComponent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6613398" y="1910239"/>
              <a:ext cx="322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Defines an object to which additional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613398" y="2148364"/>
              <a:ext cx="279581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responsibilities can be attached.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613398" y="2529364"/>
              <a:ext cx="32668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Represents core basic functionality.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613779" y="2918460"/>
              <a:ext cx="2433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Example: Espresso, DarkRoast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3810000"/>
            <a:ext cx="5143500" cy="2286000"/>
            <a:chOff x="762000" y="3810000"/>
            <a:chExt cx="5143500" cy="2286000"/>
          </a:xfrm>
        </p:grpSpPr>
        <p:sp>
          <p:nvSpPr>
            <p:cNvPr id="20" name="Rectangle 20"/>
            <p:cNvSpPr/>
            <p:nvPr/>
          </p:nvSpPr>
          <p:spPr>
            <a:xfrm>
              <a:off x="762000" y="3810000"/>
              <a:ext cx="51435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38100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6C63FF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86993" y="4060508"/>
              <a:ext cx="389227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3. Decorator (Abstract Wrapper)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88898" y="4481989"/>
              <a:ext cx="39190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Maintains a reference to a Component object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88898" y="4720114"/>
              <a:ext cx="35884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and defines an interface that conforms to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088898" y="4958239"/>
              <a:ext cx="20523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Component's interface.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89279" y="5490210"/>
              <a:ext cx="23704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Example: CondimentDecorator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286500" y="3810000"/>
            <a:ext cx="5143500" cy="2286000"/>
            <a:chOff x="6286500" y="3810000"/>
            <a:chExt cx="5143500" cy="2286000"/>
          </a:xfrm>
        </p:grpSpPr>
        <p:sp>
          <p:nvSpPr>
            <p:cNvPr id="28" name="Rectangle 28"/>
            <p:cNvSpPr/>
            <p:nvPr/>
          </p:nvSpPr>
          <p:spPr>
            <a:xfrm>
              <a:off x="6286500" y="3810000"/>
              <a:ext cx="51435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286500" y="3810000"/>
              <a:ext cx="57150" cy="2286000"/>
            </a:xfrm>
            <a:prstGeom prst="roundRect">
              <a:avLst>
                <a:gd name="adj" fmla="val 50000"/>
              </a:avLst>
            </a:prstGeom>
            <a:solidFill>
              <a:srgbClr val="00D4A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6611493" y="4060508"/>
              <a:ext cx="25406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4. ConcreteDecorator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6613398" y="4481989"/>
              <a:ext cx="34995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Adds responsibilities to the component.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13398" y="4862989"/>
              <a:ext cx="40425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38176" indent="-138176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Overrides methods and calls wrapped object's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3398" y="5101114"/>
              <a:ext cx="32438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methods + adds extra state/behavior.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613779" y="5490210"/>
              <a:ext cx="21932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i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Example: Milk, Mocha, Whip</a:t>
              </a:r>
            </a:p>
          </p:txBody>
        </p:sp>
      </p:grpSp>
      <p:sp>
        <p:nvSpPr>
          <p:cNvPr id="36" name="Rectangle 3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Box 3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11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95825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C++ Implementation: Component Interface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Ellipse 6"/>
          <p:cNvSpPr/>
          <p:nvPr/>
        </p:nvSpPr>
        <p:spPr>
          <a:xfrm>
            <a:off x="942975" y="1343025"/>
            <a:ext cx="114300" cy="114300"/>
          </a:xfrm>
          <a:prstGeom prst="ellipse">
            <a:avLst/>
          </a:prstGeom>
          <a:solidFill>
            <a:srgbClr val="FF5F56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Ellipse 7"/>
          <p:cNvSpPr/>
          <p:nvPr/>
        </p:nvSpPr>
        <p:spPr>
          <a:xfrm>
            <a:off x="1133475" y="1343025"/>
            <a:ext cx="114300" cy="11430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Ellipse 8"/>
          <p:cNvSpPr/>
          <p:nvPr/>
        </p:nvSpPr>
        <p:spPr>
          <a:xfrm>
            <a:off x="1323975" y="1343025"/>
            <a:ext cx="114300" cy="114300"/>
          </a:xfrm>
          <a:prstGeom prst="ellipse">
            <a:avLst/>
          </a:prstGeom>
          <a:solidFill>
            <a:srgbClr val="27C93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Box 9"/>
          <p:cNvSpPr txBox="1"/>
          <p:nvPr/>
        </p:nvSpPr>
        <p:spPr>
          <a:xfrm>
            <a:off x="5699506" y="1343978"/>
            <a:ext cx="7929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Beverage.h</a:t>
            </a:r>
          </a:p>
        </p:txBody>
      </p:sp>
      <p:grpSp>
        <p:nvGrpSpPr>
          <p:cNvPr id="44" name="Group 44"/>
          <p:cNvGrpSpPr/>
          <p:nvPr/>
        </p:nvGrpSpPr>
        <p:grpSpPr>
          <a:xfrm>
            <a:off x="1136523" y="1767364"/>
            <a:ext cx="6687409" cy="3583114"/>
            <a:chOff x="1136523" y="1767364"/>
            <a:chExt cx="6687409" cy="3583114"/>
          </a:xfrm>
        </p:grpSpPr>
        <p:sp>
          <p:nvSpPr>
            <p:cNvPr id="10" name="TextBox 10"/>
            <p:cNvSpPr txBox="1"/>
            <p:nvPr/>
          </p:nvSpPr>
          <p:spPr>
            <a:xfrm>
              <a:off x="1136523" y="1767364"/>
              <a:ext cx="11416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#pragma once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6523" y="2053114"/>
              <a:ext cx="68497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#include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993773" y="2053114"/>
              <a:ext cx="7280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&lt;string&gt;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6523" y="2529364"/>
              <a:ext cx="44373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660398" y="2529364"/>
              <a:ext cx="8146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565273" y="25293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136523" y="2815114"/>
              <a:ext cx="9606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protected: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523" y="3100864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std::string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660523" y="3100864"/>
              <a:ext cx="111576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description =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089273" y="3100864"/>
              <a:ext cx="172305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"Unknown Beverage"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803773" y="3100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6523" y="357711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7523" y="386286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virtual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79523" y="3862864"/>
              <a:ext cx="121033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~Beverage() =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08273" y="3862864"/>
              <a:ext cx="6332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default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375023" y="3862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7523" y="424386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virtual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79523" y="4243864"/>
              <a:ext cx="10123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std::string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517773" y="4243864"/>
              <a:ext cx="125862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getDescription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4946523" y="424386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184648" y="42438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5708523" y="4243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5946648" y="4243864"/>
              <a:ext cx="58158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6613398" y="4243864"/>
              <a:ext cx="12105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description; }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517523" y="4624864"/>
              <a:ext cx="59020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virtual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2279523" y="4624864"/>
              <a:ext cx="5385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2993898" y="4624864"/>
              <a:ext cx="39204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422523" y="462486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60648" y="4624864"/>
              <a:ext cx="48681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4184523" y="4624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=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422648" y="4624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4565523" y="462486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851273" y="4624864"/>
              <a:ext cx="19233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Pure virtual method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36523" y="5101114"/>
              <a:ext cx="20249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45" name="Rectangle 4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6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12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704364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C++ Implementation: Concrete Components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51435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51435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2937256" y="1343978"/>
            <a:ext cx="79298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Espresso.h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946785" y="1688306"/>
            <a:ext cx="2856606" cy="2791778"/>
            <a:chOff x="946785" y="1688306"/>
            <a:chExt cx="2856606" cy="2791778"/>
          </a:xfrm>
        </p:grpSpPr>
        <p:sp>
          <p:nvSpPr>
            <p:cNvPr id="7" name="TextBox 7"/>
            <p:cNvSpPr txBox="1"/>
            <p:nvPr/>
          </p:nvSpPr>
          <p:spPr>
            <a:xfrm>
              <a:off x="946785" y="1688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5410" y="1688306"/>
              <a:ext cx="7129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Espresso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185035" y="1688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375535" y="168830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947035" y="1688306"/>
              <a:ext cx="679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709035" y="1688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" y="19740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285" y="2259806"/>
              <a:ext cx="679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Espresso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851660" y="225980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 {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785" y="254555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description =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566035" y="2545556"/>
              <a:ext cx="8465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"Espresso"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75660" y="254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285" y="2831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7285" y="3307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708785" y="3307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89785" y="3307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280285" y="330755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518535" y="3307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327785" y="35933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899285" y="3593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1.99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280285" y="3593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7285" y="38790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46785" y="4260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31" name="Rectangle 31"/>
          <p:cNvSpPr/>
          <p:nvPr/>
        </p:nvSpPr>
        <p:spPr>
          <a:xfrm>
            <a:off x="6286500" y="1238250"/>
            <a:ext cx="51435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2" name="Rectangle 32"/>
          <p:cNvSpPr/>
          <p:nvPr/>
        </p:nvSpPr>
        <p:spPr>
          <a:xfrm>
            <a:off x="6286500" y="1238250"/>
            <a:ext cx="51435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Box 33"/>
          <p:cNvSpPr txBox="1"/>
          <p:nvPr/>
        </p:nvSpPr>
        <p:spPr>
          <a:xfrm>
            <a:off x="8420489" y="1343978"/>
            <a:ext cx="8755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DarkRoast.h</a:t>
            </a:r>
          </a:p>
        </p:txBody>
      </p:sp>
      <p:grpSp>
        <p:nvGrpSpPr>
          <p:cNvPr id="57" name="Group 57"/>
          <p:cNvGrpSpPr/>
          <p:nvPr/>
        </p:nvGrpSpPr>
        <p:grpSpPr>
          <a:xfrm>
            <a:off x="6471285" y="1688306"/>
            <a:ext cx="2904231" cy="2791778"/>
            <a:chOff x="6471285" y="1688306"/>
            <a:chExt cx="2904231" cy="2791778"/>
          </a:xfrm>
        </p:grpSpPr>
        <p:sp>
          <p:nvSpPr>
            <p:cNvPr id="34" name="TextBox 34"/>
            <p:cNvSpPr txBox="1"/>
            <p:nvPr/>
          </p:nvSpPr>
          <p:spPr>
            <a:xfrm>
              <a:off x="6471285" y="168830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6899910" y="1688306"/>
              <a:ext cx="8049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DarkRoast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757160" y="1688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47660" y="1688306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519160" y="1688306"/>
              <a:ext cx="67953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9281160" y="1688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471285" y="19740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61785" y="2259806"/>
              <a:ext cx="76715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DarkRoast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471410" y="225980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 {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852285" y="2545556"/>
              <a:ext cx="9763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description =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090535" y="2545556"/>
              <a:ext cx="98089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"Dark Roast"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9043035" y="2545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661785" y="2831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661785" y="3307556"/>
              <a:ext cx="4712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233285" y="330755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614285" y="33075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804785" y="3307556"/>
              <a:ext cx="109700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043035" y="3307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852285" y="3593306"/>
              <a:ext cx="50898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423785" y="3593306"/>
              <a:ext cx="34313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0.99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804785" y="3593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661785" y="38790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471285" y="4260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58" name="Rectangle 5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9" name="TextBox 5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13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78890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C++ Implementation: Abstract Decorator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12158" y="1343978"/>
            <a:ext cx="156768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CondimentDecorator.h</a:t>
            </a:r>
          </a:p>
        </p:txBody>
      </p:sp>
      <p:grpSp>
        <p:nvGrpSpPr>
          <p:cNvPr id="33" name="Group 33"/>
          <p:cNvGrpSpPr/>
          <p:nvPr/>
        </p:nvGrpSpPr>
        <p:grpSpPr>
          <a:xfrm>
            <a:off x="1136904" y="1727835"/>
            <a:ext cx="5953862" cy="3949446"/>
            <a:chOff x="1136904" y="1727835"/>
            <a:chExt cx="5953862" cy="3949446"/>
          </a:xfrm>
        </p:grpSpPr>
        <p:sp>
          <p:nvSpPr>
            <p:cNvPr id="7" name="TextBox 7"/>
            <p:cNvSpPr txBox="1"/>
            <p:nvPr/>
          </p:nvSpPr>
          <p:spPr>
            <a:xfrm>
              <a:off x="1136904" y="1727835"/>
              <a:ext cx="6422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#include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994154" y="1727835"/>
              <a:ext cx="10850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"Beverage.h"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6904" y="2156460"/>
              <a:ext cx="4160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660779" y="2156460"/>
              <a:ext cx="169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CondimentDecorator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470529" y="2156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661029" y="2156460"/>
              <a:ext cx="4645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327779" y="2156460"/>
              <a:ext cx="7280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185029" y="21564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136904" y="2489835"/>
              <a:ext cx="9006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protected: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17904" y="2775585"/>
              <a:ext cx="81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470404" y="27755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beverage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327654" y="2775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613404" y="2775585"/>
              <a:ext cx="20696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Wrapped object pointer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6904" y="3251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517904" y="3537585"/>
              <a:ext cx="16134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CondimentDecorator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27654" y="3537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422904" y="3537585"/>
              <a:ext cx="81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75404" y="3537585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b) : beverage(b) {}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904" y="4013835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virtual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279904" y="4013835"/>
              <a:ext cx="2019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~CondimentDecorator() {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98904" y="429958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delete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565654" y="4299585"/>
              <a:ext cx="811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beverage;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613404" y="4299585"/>
              <a:ext cx="2118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Clean up wrapped object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7904" y="4585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517904" y="5061585"/>
              <a:ext cx="55728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// All concrete decorators must override getDescription() and cost()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6904" y="54425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34" name="Rectangle 34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Box 35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14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97533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C++ Implementation: Concrete Decorators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51435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51435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3113989" y="1343978"/>
            <a:ext cx="43952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Milk.h</a:t>
            </a:r>
          </a:p>
        </p:txBody>
      </p:sp>
      <p:grpSp>
        <p:nvGrpSpPr>
          <p:cNvPr id="41" name="Group 41"/>
          <p:cNvGrpSpPr/>
          <p:nvPr/>
        </p:nvGrpSpPr>
        <p:grpSpPr>
          <a:xfrm>
            <a:off x="947166" y="1648778"/>
            <a:ext cx="3231661" cy="3729609"/>
            <a:chOff x="947166" y="1648778"/>
            <a:chExt cx="3231661" cy="3729609"/>
          </a:xfrm>
        </p:grpSpPr>
        <p:sp>
          <p:nvSpPr>
            <p:cNvPr id="7" name="TextBox 7"/>
            <p:cNvSpPr txBox="1"/>
            <p:nvPr/>
          </p:nvSpPr>
          <p:spPr>
            <a:xfrm>
              <a:off x="947166" y="1648778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375791" y="1648778"/>
              <a:ext cx="2966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Milk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04416" y="16487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994916" y="1648778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2566416" y="1648778"/>
              <a:ext cx="1411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CondimentDecorator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090416" y="16487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7166" y="19345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37666" y="2220278"/>
              <a:ext cx="28303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Milk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8666" y="2220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613916" y="2220278"/>
              <a:ext cx="7153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2375916" y="22202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328166" y="2506028"/>
              <a:ext cx="1965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 CondimentDecorator(b) {}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37666" y="2887028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std::string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185416" y="2887028"/>
              <a:ext cx="1032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getDescription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423666" y="28870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328166" y="3125152"/>
              <a:ext cx="1028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2566416" y="3125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328166" y="3410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899666" y="3410902"/>
              <a:ext cx="1966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beverage-&gt;getDescription()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518666" y="3649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804416" y="3649028"/>
              <a:ext cx="56257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", Milk"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471166" y="3649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666" y="3887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137666" y="426815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709166" y="42681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090166" y="42681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280666" y="4268152"/>
              <a:ext cx="1028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18916" y="4268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328166" y="4553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899666" y="455390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beverage-&gt;cost() +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614166" y="45539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0.10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947541" y="45539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37666" y="4839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947166" y="51730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42" name="Rectangle 42"/>
          <p:cNvSpPr/>
          <p:nvPr/>
        </p:nvSpPr>
        <p:spPr>
          <a:xfrm>
            <a:off x="6286500" y="1238250"/>
            <a:ext cx="51435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Rectangle 43"/>
          <p:cNvSpPr/>
          <p:nvPr/>
        </p:nvSpPr>
        <p:spPr>
          <a:xfrm>
            <a:off x="6286500" y="1238250"/>
            <a:ext cx="51435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Box 44"/>
          <p:cNvSpPr txBox="1"/>
          <p:nvPr/>
        </p:nvSpPr>
        <p:spPr>
          <a:xfrm>
            <a:off x="8563980" y="1343978"/>
            <a:ext cx="58854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Mocha.h</a:t>
            </a:r>
          </a:p>
        </p:txBody>
      </p:sp>
      <p:grpSp>
        <p:nvGrpSpPr>
          <p:cNvPr id="79" name="Group 79"/>
          <p:cNvGrpSpPr/>
          <p:nvPr/>
        </p:nvGrpSpPr>
        <p:grpSpPr>
          <a:xfrm>
            <a:off x="6471666" y="1648778"/>
            <a:ext cx="3279286" cy="3729609"/>
            <a:chOff x="6471666" y="1648778"/>
            <a:chExt cx="3279286" cy="3729609"/>
          </a:xfrm>
        </p:grpSpPr>
        <p:sp>
          <p:nvSpPr>
            <p:cNvPr id="45" name="TextBox 45"/>
            <p:cNvSpPr txBox="1"/>
            <p:nvPr/>
          </p:nvSpPr>
          <p:spPr>
            <a:xfrm>
              <a:off x="6471666" y="1648778"/>
              <a:ext cx="36404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900291" y="1648778"/>
              <a:ext cx="453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Mocha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376541" y="16487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7567041" y="1648778"/>
              <a:ext cx="40645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8138541" y="1648778"/>
              <a:ext cx="141173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CondimentDecorator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9662541" y="16487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471666" y="1934528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662166" y="2220278"/>
              <a:ext cx="432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Mocha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090791" y="222027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7186041" y="2220278"/>
              <a:ext cx="71530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948041" y="22202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b)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6852666" y="2506028"/>
              <a:ext cx="19658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 CondimentDecorator(b) {}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6662166" y="2887028"/>
              <a:ext cx="83050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std::string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709916" y="2887028"/>
              <a:ext cx="103251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getDescription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948166" y="28870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852666" y="3125152"/>
              <a:ext cx="1028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8090916" y="3125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6852666" y="3410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7424166" y="3410902"/>
              <a:ext cx="19663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beverage-&gt;getDescription()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7043166" y="3649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+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7328916" y="3649028"/>
              <a:ext cx="7111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", Mocha"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8043291" y="3649028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6662166" y="3887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662166" y="4268152"/>
              <a:ext cx="44178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double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233666" y="426815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cost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7614666" y="4268152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7805166" y="4268152"/>
              <a:ext cx="102839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const override</a:t>
              </a: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9043416" y="42681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6852666" y="4553902"/>
              <a:ext cx="47712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7424166" y="4553902"/>
              <a:ext cx="13747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beverage-&gt;cost() +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138666" y="4553902"/>
              <a:ext cx="32164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0.20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9472041" y="455390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6662166" y="4839652"/>
              <a:ext cx="8841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6471666" y="51730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80" name="Rectangle 8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Box 81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15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10947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C++ Client Code Assembly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783228" y="1343978"/>
            <a:ext cx="625545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main.cpp</a:t>
            </a:r>
          </a:p>
        </p:txBody>
      </p:sp>
      <p:grpSp>
        <p:nvGrpSpPr>
          <p:cNvPr id="49" name="Group 49"/>
          <p:cNvGrpSpPr/>
          <p:nvPr/>
        </p:nvGrpSpPr>
        <p:grpSpPr>
          <a:xfrm>
            <a:off x="1136904" y="1727835"/>
            <a:ext cx="6529758" cy="3949446"/>
            <a:chOff x="1136904" y="1727835"/>
            <a:chExt cx="6529758" cy="3949446"/>
          </a:xfrm>
        </p:grpSpPr>
        <p:sp>
          <p:nvSpPr>
            <p:cNvPr id="7" name="TextBox 7"/>
            <p:cNvSpPr txBox="1"/>
            <p:nvPr/>
          </p:nvSpPr>
          <p:spPr>
            <a:xfrm>
              <a:off x="1136904" y="1727835"/>
              <a:ext cx="2383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470279" y="1727835"/>
              <a:ext cx="3595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main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851279" y="172783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 {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17904" y="2108835"/>
              <a:ext cx="308315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1. Order a plain Dark Roast ($0.99)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904" y="2394585"/>
              <a:ext cx="81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470404" y="23945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b1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756154" y="2394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=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994279" y="239458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375279" y="2394585"/>
              <a:ext cx="821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DarkRoast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232529" y="239458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();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517904" y="2680335"/>
              <a:ext cx="5667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std::cout &lt;&lt; b1-&gt;getDescription() &lt;&lt; " $" &lt;&lt; b1-&gt;cost() &lt;&lt; std::endl;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517904" y="3156585"/>
              <a:ext cx="61487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2. Order Dark Roast with Double Mocha + Milk ($0.99 + 0.20 + 0.20 + 0.10)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517904" y="3442335"/>
              <a:ext cx="8174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Beverage*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0404" y="34423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b2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756154" y="34423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=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994279" y="344233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375279" y="3442335"/>
              <a:ext cx="8218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DarkRoast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32529" y="34423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();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7904" y="382333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b2 =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994154" y="382333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75154" y="3823335"/>
              <a:ext cx="494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Mocha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899029" y="38233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(b2);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565779" y="3823335"/>
              <a:ext cx="1875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Wrap with 1st Mocha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517904" y="410908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b2 =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994154" y="410908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2375154" y="4109085"/>
              <a:ext cx="4941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Mocha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2899029" y="410908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(b2);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565779" y="4109085"/>
              <a:ext cx="1924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Wrap with 2nd Mocha!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7904" y="4394835"/>
              <a:ext cx="32720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b2 =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94154" y="4394835"/>
              <a:ext cx="311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2375154" y="4394835"/>
              <a:ext cx="3234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Milk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2803779" y="4394835"/>
              <a:ext cx="456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(b2);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565779" y="4394835"/>
              <a:ext cx="13901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Wrap with Milk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7904" y="4871085"/>
              <a:ext cx="5667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>
                      <a:alphaMod val="70000"/>
                    </a:srgbClr>
                  </a:solidFill>
                  <a:latin typeface="Consolas"/>
                  <a:ea typeface="Consolas"/>
                  <a:cs typeface="Consolas"/>
                </a:rPr>
                <a:t>std::cout &lt;&lt; b2-&gt;getDescription() &lt;&lt; " $" &lt;&lt; b2-&gt;cost() &lt;&lt; std::endl;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517904" y="51568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delete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184654" y="51568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b1;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565654" y="5156835"/>
              <a:ext cx="5049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delete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32404" y="5156835"/>
              <a:ext cx="2787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b2;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3613404" y="5156835"/>
              <a:ext cx="54528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return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280154" y="5156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423029" y="515683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136904" y="5442585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</p:grpSp>
      <p:sp>
        <p:nvSpPr>
          <p:cNvPr id="50" name="Rectangle 50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Box 51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16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33183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Object Wrapping Sequence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3" name="Group 13"/>
          <p:cNvGrpSpPr/>
          <p:nvPr/>
        </p:nvGrpSpPr>
        <p:grpSpPr>
          <a:xfrm>
            <a:off x="762000" y="1428750"/>
            <a:ext cx="3238500" cy="4572000"/>
            <a:chOff x="762000" y="1428750"/>
            <a:chExt cx="32385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428750"/>
              <a:ext cx="3238500" cy="4572000"/>
            </a:xfrm>
            <a:prstGeom prst="roundRect">
              <a:avLst>
                <a:gd name="adj" fmla="val 235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695450"/>
              <a:ext cx="20861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Step 1: Core Object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238250" y="2190750"/>
              <a:ext cx="2286000" cy="762000"/>
            </a:xfrm>
            <a:prstGeom prst="roundRect">
              <a:avLst>
                <a:gd name="adj" fmla="val 7500"/>
              </a:avLst>
            </a:prstGeom>
            <a:solidFill>
              <a:srgbClr val="1A1B2E"/>
            </a:solidFill>
            <a:ln w="14288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896162" y="2473642"/>
              <a:ext cx="97017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DarkRoast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1654" y="3299460"/>
              <a:ext cx="20129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Base component created.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3680460"/>
              <a:ext cx="1447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getDescription():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3966210"/>
              <a:ext cx="11028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"Dark Roast"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1654" y="44424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cost():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469582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$0.99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76750" y="1428750"/>
            <a:ext cx="3238500" cy="4572000"/>
            <a:chOff x="4476750" y="1428750"/>
            <a:chExt cx="3238500" cy="4572000"/>
          </a:xfrm>
        </p:grpSpPr>
        <p:sp>
          <p:nvSpPr>
            <p:cNvPr id="14" name="Rectangle 14"/>
            <p:cNvSpPr/>
            <p:nvPr/>
          </p:nvSpPr>
          <p:spPr>
            <a:xfrm>
              <a:off x="4476750" y="1428750"/>
              <a:ext cx="3238500" cy="4572000"/>
            </a:xfrm>
            <a:prstGeom prst="roundRect">
              <a:avLst>
                <a:gd name="adj" fmla="val 235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754880" y="1695450"/>
              <a:ext cx="25849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Step 2: Wrap with Mocha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762500" y="2095500"/>
              <a:ext cx="2667000" cy="1047750"/>
            </a:xfrm>
            <a:prstGeom prst="roundRect">
              <a:avLst>
                <a:gd name="adj" fmla="val 5455"/>
              </a:avLst>
            </a:prstGeom>
            <a:solidFill>
              <a:srgbClr val="1A1B2E"/>
            </a:solidFill>
            <a:ln w="14288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88834" y="2204085"/>
              <a:ext cx="14143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Mocha Decorator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048250" y="2476500"/>
              <a:ext cx="2095500" cy="476250"/>
            </a:xfrm>
            <a:prstGeom prst="roundRect">
              <a:avLst>
                <a:gd name="adj" fmla="val 80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36422" y="2648902"/>
              <a:ext cx="71915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05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DarkRoast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56404" y="3299460"/>
              <a:ext cx="24118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Wrapped with Mocha (+ $0.20)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56404" y="3680460"/>
              <a:ext cx="1447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getDescription():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56404" y="3966210"/>
              <a:ext cx="17547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"Dark Roast, Mocha"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56404" y="44424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cost():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54880" y="469582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$1.19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191500" y="1428750"/>
            <a:ext cx="3238500" cy="4572000"/>
            <a:chOff x="8191500" y="1428750"/>
            <a:chExt cx="3238500" cy="4572000"/>
          </a:xfrm>
        </p:grpSpPr>
        <p:sp>
          <p:nvSpPr>
            <p:cNvPr id="26" name="Rectangle 26"/>
            <p:cNvSpPr/>
            <p:nvPr/>
          </p:nvSpPr>
          <p:spPr>
            <a:xfrm>
              <a:off x="8191500" y="1428750"/>
              <a:ext cx="3238500" cy="4572000"/>
            </a:xfrm>
            <a:prstGeom prst="roundRect">
              <a:avLst>
                <a:gd name="adj" fmla="val 235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69630" y="1695450"/>
              <a:ext cx="23615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Step 3: Wrap with Milk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8382000" y="2047875"/>
              <a:ext cx="2857500" cy="1238250"/>
            </a:xfrm>
            <a:prstGeom prst="roundRect">
              <a:avLst>
                <a:gd name="adj" fmla="val 4615"/>
              </a:avLst>
            </a:prstGeom>
            <a:solidFill>
              <a:srgbClr val="1A1B2E"/>
            </a:solidFill>
            <a:ln w="14288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9234137" y="2116931"/>
              <a:ext cx="1153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Milk Decorator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72500" y="2333625"/>
              <a:ext cx="2476500" cy="809625"/>
            </a:xfrm>
            <a:prstGeom prst="roundRect">
              <a:avLst>
                <a:gd name="adj" fmla="val 4706"/>
              </a:avLst>
            </a:prstGeom>
            <a:solidFill>
              <a:srgbClr val="252640"/>
            </a:solidFill>
            <a:ln w="9525">
              <a:solidFill>
                <a:srgbClr val="6C63FF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622147" y="2418874"/>
              <a:ext cx="2377206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80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Mocha Decorator (wraps DarkRoast)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71154" y="3299460"/>
              <a:ext cx="22420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Wrapped with Milk (+ $0.10)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71154" y="3680460"/>
              <a:ext cx="14476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getDescription():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71535" y="3974306"/>
              <a:ext cx="20793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"Dark Roast, Mocha, Milk"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71154" y="4442460"/>
              <a:ext cx="6341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cost():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69630" y="4695825"/>
              <a:ext cx="59831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$1.29</a:t>
              </a:r>
            </a:p>
          </p:txBody>
        </p:sp>
      </p:grpSp>
      <p:sp>
        <p:nvSpPr>
          <p:cNvPr id="38" name="Rectangle 3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Box 3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17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3438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Execution Flow &amp; Delegated Calls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0" y="2237267"/>
            <a:ext cx="4953000" cy="2764465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18 / 39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1619250"/>
            <a:ext cx="5334000" cy="762000"/>
            <a:chOff x="762000" y="1619250"/>
            <a:chExt cx="5334000" cy="762000"/>
          </a:xfrm>
        </p:grpSpPr>
        <p:sp>
          <p:nvSpPr>
            <p:cNvPr id="7" name="Rectangle 7"/>
            <p:cNvSpPr/>
            <p:nvPr/>
          </p:nvSpPr>
          <p:spPr>
            <a:xfrm>
              <a:off x="762000" y="161925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46404" y="1775460"/>
              <a:ext cx="23259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1. Client calls whip-&gt;cost()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6785" y="2069306"/>
              <a:ext cx="39909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Whip adds $0.15 to whatever mocha-&gt;cost() returns.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2571750"/>
            <a:ext cx="5334000" cy="762000"/>
            <a:chOff x="762000" y="2571750"/>
            <a:chExt cx="5334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762000" y="257175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6404" y="2727960"/>
              <a:ext cx="30045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2. Whip delegates to mocha-&gt;cost()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6785" y="3021806"/>
              <a:ext cx="441926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Mocha adds $0.20 to whatever darkRoast-&gt;cost() returns.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524250"/>
            <a:ext cx="5334000" cy="762000"/>
            <a:chOff x="762000" y="3524250"/>
            <a:chExt cx="5334000" cy="762000"/>
          </a:xfrm>
        </p:grpSpPr>
        <p:sp>
          <p:nvSpPr>
            <p:cNvPr id="15" name="Rectangle 15"/>
            <p:cNvSpPr/>
            <p:nvPr/>
          </p:nvSpPr>
          <p:spPr>
            <a:xfrm>
              <a:off x="762000" y="352425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6404" y="3680460"/>
              <a:ext cx="34859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3. Mocha delegates to darkRoast-&gt;cost()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46785" y="3974306"/>
              <a:ext cx="443835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DarkRoast (ConcreteComponent) returns base cost: $0.99.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4476750"/>
            <a:ext cx="5334000" cy="762000"/>
            <a:chOff x="762000" y="4476750"/>
            <a:chExt cx="5334000" cy="762000"/>
          </a:xfrm>
        </p:grpSpPr>
        <p:sp>
          <p:nvSpPr>
            <p:cNvPr id="19" name="Rectangle 19"/>
            <p:cNvSpPr/>
            <p:nvPr/>
          </p:nvSpPr>
          <p:spPr>
            <a:xfrm>
              <a:off x="762000" y="447675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46404" y="4632960"/>
              <a:ext cx="32938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4. Return Stack: $0.99 → $1.19 → $1.34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46785" y="4926806"/>
              <a:ext cx="30326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Total cost calculated dynamically: $1.34!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4380" y="1171575"/>
            <a:ext cx="4443812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How cost() propagates through wrappers: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587571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Advantages of Decorator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00D4AA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8" name="Group 28"/>
          <p:cNvGrpSpPr/>
          <p:nvPr/>
        </p:nvGrpSpPr>
        <p:grpSpPr>
          <a:xfrm>
            <a:off x="762000" y="1238250"/>
            <a:ext cx="10668000" cy="4762500"/>
            <a:chOff x="762000" y="1238250"/>
            <a:chExt cx="10668000" cy="4762500"/>
          </a:xfrm>
        </p:grpSpPr>
        <p:grpSp>
          <p:nvGrpSpPr>
            <p:cNvPr id="9" name="Group 9"/>
            <p:cNvGrpSpPr/>
            <p:nvPr/>
          </p:nvGrpSpPr>
          <p:grpSpPr>
            <a:xfrm>
              <a:off x="762000" y="1238250"/>
              <a:ext cx="10668000" cy="1047750"/>
              <a:chOff x="762000" y="1238250"/>
              <a:chExt cx="10668000" cy="1047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238250"/>
                <a:ext cx="106680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Ellipse 5"/>
              <p:cNvSpPr/>
              <p:nvPr/>
            </p:nvSpPr>
            <p:spPr>
              <a:xfrm>
                <a:off x="1009650" y="1533525"/>
                <a:ext cx="457200" cy="457200"/>
              </a:xfrm>
              <a:prstGeom prst="ellipse">
                <a:avLst/>
              </a:prstGeom>
              <a:solidFill>
                <a:srgbClr val="00D4AA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113253" y="1660208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✓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706880" y="1504950"/>
                <a:ext cx="441900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Greater Flexibility than Static Inheritance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708404" y="1823085"/>
                <a:ext cx="789276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Responsibilities can be added and removed at runtime simply by attaching and detaching decorators.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762000" y="2476500"/>
              <a:ext cx="10668000" cy="1047750"/>
              <a:chOff x="762000" y="2476500"/>
              <a:chExt cx="10668000" cy="1047750"/>
            </a:xfrm>
          </p:grpSpPr>
          <p:sp>
            <p:nvSpPr>
              <p:cNvPr id="10" name="Rectangle 10"/>
              <p:cNvSpPr/>
              <p:nvPr/>
            </p:nvSpPr>
            <p:spPr>
              <a:xfrm>
                <a:off x="762000" y="2476500"/>
                <a:ext cx="106680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Ellipse 11"/>
              <p:cNvSpPr/>
              <p:nvPr/>
            </p:nvSpPr>
            <p:spPr>
              <a:xfrm>
                <a:off x="1009650" y="2771775"/>
                <a:ext cx="457200" cy="457200"/>
              </a:xfrm>
              <a:prstGeom prst="ellipse">
                <a:avLst/>
              </a:prstGeom>
              <a:solidFill>
                <a:srgbClr val="00D4AA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13253" y="2898458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✓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06880" y="2743200"/>
                <a:ext cx="536474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Avoids Feature-Laden Classes High Up the Hierarchy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08404" y="3061335"/>
                <a:ext cx="797366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Pay-as-you-go approach: define simple classes and add functionality incrementally with decorators.</a:t>
                </a: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762000" y="3714750"/>
              <a:ext cx="10668000" cy="1047750"/>
              <a:chOff x="762000" y="3714750"/>
              <a:chExt cx="10668000" cy="1047750"/>
            </a:xfrm>
          </p:grpSpPr>
          <p:sp>
            <p:nvSpPr>
              <p:cNvPr id="16" name="Rectangle 16"/>
              <p:cNvSpPr/>
              <p:nvPr/>
            </p:nvSpPr>
            <p:spPr>
              <a:xfrm>
                <a:off x="762000" y="3714750"/>
                <a:ext cx="106680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Ellipse 17"/>
              <p:cNvSpPr/>
              <p:nvPr/>
            </p:nvSpPr>
            <p:spPr>
              <a:xfrm>
                <a:off x="1009650" y="4010025"/>
                <a:ext cx="457200" cy="457200"/>
              </a:xfrm>
              <a:prstGeom prst="ellipse">
                <a:avLst/>
              </a:prstGeom>
              <a:solidFill>
                <a:srgbClr val="00D4AA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113253" y="4136708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✓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706880" y="3981450"/>
                <a:ext cx="546222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Adheres strictly to the Open-Closed Principle (OCP)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708404" y="4299585"/>
                <a:ext cx="718207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New features are added via new decorator classes without modifying existing components.</a:t>
                </a:r>
              </a:p>
            </p:txBody>
          </p:sp>
        </p:grpSp>
        <p:grpSp>
          <p:nvGrpSpPr>
            <p:cNvPr id="27" name="Group 27"/>
            <p:cNvGrpSpPr/>
            <p:nvPr/>
          </p:nvGrpSpPr>
          <p:grpSpPr>
            <a:xfrm>
              <a:off x="762000" y="4953000"/>
              <a:ext cx="10668000" cy="1047750"/>
              <a:chOff x="762000" y="4953000"/>
              <a:chExt cx="10668000" cy="1047750"/>
            </a:xfrm>
          </p:grpSpPr>
          <p:sp>
            <p:nvSpPr>
              <p:cNvPr id="22" name="Rectangle 22"/>
              <p:cNvSpPr/>
              <p:nvPr/>
            </p:nvSpPr>
            <p:spPr>
              <a:xfrm>
                <a:off x="762000" y="4953000"/>
                <a:ext cx="10668000" cy="1047750"/>
              </a:xfrm>
              <a:prstGeom prst="roundRect">
                <a:avLst>
                  <a:gd name="adj" fmla="val 727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Ellipse 23"/>
              <p:cNvSpPr/>
              <p:nvPr/>
            </p:nvSpPr>
            <p:spPr>
              <a:xfrm>
                <a:off x="1009650" y="5248275"/>
                <a:ext cx="457200" cy="457200"/>
              </a:xfrm>
              <a:prstGeom prst="ellipse">
                <a:avLst/>
              </a:prstGeom>
              <a:solidFill>
                <a:srgbClr val="00D4AA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113253" y="5374958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✓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706880" y="5219700"/>
                <a:ext cx="398773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Supports Mix-and-Match Combinations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1708404" y="5537835"/>
                <a:ext cx="78600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Mix decorators in any order or repeat decorators (e.g., Double Whip, Double Mocha) effortlessly.</a:t>
                </a:r>
              </a:p>
            </p:txBody>
          </p:sp>
        </p:grpSp>
      </p:grpSp>
      <p:sp>
        <p:nvSpPr>
          <p:cNvPr id="29" name="Rectangle 29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19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06186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Disadvantages of Decorator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FF6B6B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62000" y="1238250"/>
            <a:ext cx="10668000" cy="4000500"/>
            <a:chOff x="762000" y="1238250"/>
            <a:chExt cx="10668000" cy="400050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238250"/>
              <a:ext cx="10668000" cy="1143000"/>
              <a:chOff x="762000" y="1238250"/>
              <a:chExt cx="10668000" cy="1143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238250"/>
                <a:ext cx="10668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Ellipse 5"/>
              <p:cNvSpPr/>
              <p:nvPr/>
            </p:nvSpPr>
            <p:spPr>
              <a:xfrm>
                <a:off x="1009650" y="1581150"/>
                <a:ext cx="457200" cy="457200"/>
              </a:xfrm>
              <a:prstGeom prst="ellipse">
                <a:avLst/>
              </a:prstGeom>
              <a:solidFill>
                <a:srgbClr val="FF6B6B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113253" y="1707832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6B6B"/>
                    </a:solidFill>
                    <a:latin typeface="Segoe UI"/>
                    <a:ea typeface="Segoe UI"/>
                    <a:cs typeface="Segoe UI"/>
                  </a:rPr>
                  <a:t>⚠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706880" y="1504950"/>
                <a:ext cx="225182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Lots of Small Objects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708404" y="1823085"/>
                <a:ext cx="7260143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A design using Decorator often results in systems with many small, similar-looking objects.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709166" y="2058352"/>
                <a:ext cx="489911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Can be confusing for developers who are unfamiliar with the codebase.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762000" y="2667000"/>
              <a:ext cx="10668000" cy="1143000"/>
              <a:chOff x="762000" y="2667000"/>
              <a:chExt cx="10668000" cy="114300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762000" y="2667000"/>
                <a:ext cx="10668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Ellipse 12"/>
              <p:cNvSpPr/>
              <p:nvPr/>
            </p:nvSpPr>
            <p:spPr>
              <a:xfrm>
                <a:off x="1009650" y="3009900"/>
                <a:ext cx="457200" cy="457200"/>
              </a:xfrm>
              <a:prstGeom prst="ellipse">
                <a:avLst/>
              </a:prstGeom>
              <a:solidFill>
                <a:srgbClr val="FF6B6B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13253" y="3136582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6B6B"/>
                    </a:solidFill>
                    <a:latin typeface="Segoe UI"/>
                    <a:ea typeface="Segoe UI"/>
                    <a:cs typeface="Segoe UI"/>
                  </a:rPr>
                  <a:t>⚠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706880" y="2933700"/>
                <a:ext cx="274761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Complex Initialization Code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708404" y="3251835"/>
                <a:ext cx="63337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Instantiating a heavily decorated component requires nested constructor calls.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709166" y="3487102"/>
                <a:ext cx="47360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Mitigated by using Factory or Builder patterns alongside Decorator.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4095750"/>
              <a:ext cx="10668000" cy="1143000"/>
              <a:chOff x="762000" y="4095750"/>
              <a:chExt cx="10668000" cy="1143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4095750"/>
                <a:ext cx="10668000" cy="1143000"/>
              </a:xfrm>
              <a:prstGeom prst="roundRect">
                <a:avLst>
                  <a:gd name="adj" fmla="val 6667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Ellipse 19"/>
              <p:cNvSpPr/>
              <p:nvPr/>
            </p:nvSpPr>
            <p:spPr>
              <a:xfrm>
                <a:off x="1009650" y="4438650"/>
                <a:ext cx="457200" cy="457200"/>
              </a:xfrm>
              <a:prstGeom prst="ellipse">
                <a:avLst/>
              </a:prstGeom>
              <a:solidFill>
                <a:srgbClr val="FF6B6B">
                  <a:alpha val="20000"/>
                </a:srgbClr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113253" y="4565332"/>
                <a:ext cx="249993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650" b="1" dirty="0">
                    <a:solidFill>
                      <a:srgbClr val="FF6B6B"/>
                    </a:solidFill>
                    <a:latin typeface="Segoe UI"/>
                    <a:ea typeface="Segoe UI"/>
                    <a:cs typeface="Segoe UI"/>
                  </a:rPr>
                  <a:t>⚠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706880" y="4362450"/>
                <a:ext cx="27278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Component Identity Issues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708404" y="4680585"/>
                <a:ext cx="738408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A decorator acts as a transparent enclosure, but it is not identical to the component itself.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09166" y="4915852"/>
                <a:ext cx="639047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Code that relies on specific concrete types (rtti/dynamic_cast) will break when decorated.</a:t>
                </a:r>
              </a:p>
            </p:txBody>
          </p:sp>
        </p:grpSp>
      </p:grpSp>
      <p:sp>
        <p:nvSpPr>
          <p:cNvPr id="26" name="Rectangle 2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20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21045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When to Use Decorator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762000" y="1333500"/>
            <a:ext cx="10668000" cy="4667250"/>
            <a:chOff x="762000" y="1333500"/>
            <a:chExt cx="10668000" cy="4667250"/>
          </a:xfrm>
        </p:grpSpPr>
        <p:grpSp>
          <p:nvGrpSpPr>
            <p:cNvPr id="10" name="Group 10"/>
            <p:cNvGrpSpPr/>
            <p:nvPr/>
          </p:nvGrpSpPr>
          <p:grpSpPr>
            <a:xfrm>
              <a:off x="762000" y="1333500"/>
              <a:ext cx="5143500" cy="2190750"/>
              <a:chOff x="762000" y="1333500"/>
              <a:chExt cx="5143500" cy="219075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333500"/>
                <a:ext cx="51435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TextBox 5"/>
              <p:cNvSpPr txBox="1"/>
              <p:nvPr/>
            </p:nvSpPr>
            <p:spPr>
              <a:xfrm>
                <a:off x="1040130" y="1600200"/>
                <a:ext cx="295212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✔ Dynamic Behavior Addition</a:t>
                </a:r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041654" y="2013585"/>
                <a:ext cx="319181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When you want to add responsibilities to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041654" y="2251710"/>
                <a:ext cx="387309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individual objects dynamically and transparently,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041654" y="2489835"/>
                <a:ext cx="264535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without affecting other objects.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042416" y="2934652"/>
                <a:ext cx="354928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Example: Adding scrolling or borders to a UI window</a:t>
                </a:r>
              </a:p>
            </p:txBody>
          </p:sp>
        </p:grpSp>
        <p:grpSp>
          <p:nvGrpSpPr>
            <p:cNvPr id="17" name="Group 17"/>
            <p:cNvGrpSpPr/>
            <p:nvPr/>
          </p:nvGrpSpPr>
          <p:grpSpPr>
            <a:xfrm>
              <a:off x="6286500" y="1333500"/>
              <a:ext cx="5143500" cy="2190750"/>
              <a:chOff x="6286500" y="1333500"/>
              <a:chExt cx="5143500" cy="21907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6286500" y="1333500"/>
                <a:ext cx="51435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6564630" y="1600200"/>
                <a:ext cx="3410736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✔ Withdrawal of Responsibilities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6566154" y="2013585"/>
                <a:ext cx="308663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When responsibilities can be withdrawn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6566154" y="2251710"/>
                <a:ext cx="286344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dynamically as needed by unwrapping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6566154" y="2489835"/>
                <a:ext cx="13610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the object chain.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6566916" y="2934652"/>
                <a:ext cx="389301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Example: Enabling/disabling encryption on a data stream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762000" y="3810000"/>
              <a:ext cx="5143500" cy="2190750"/>
              <a:chOff x="762000" y="3810000"/>
              <a:chExt cx="5143500" cy="219075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762000" y="3810000"/>
                <a:ext cx="51435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040130" y="4076700"/>
                <a:ext cx="295500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✔ Subclassing is Impractical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041654" y="4490085"/>
                <a:ext cx="350660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When extension by subclassing is impractical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041654" y="4728210"/>
                <a:ext cx="360654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due to an explosion of independent extensions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041654" y="4966335"/>
                <a:ext cx="29199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producing a massive class hierarchy.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042416" y="5411152"/>
                <a:ext cx="396755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Example: GUI widget options (scrollbar, shadow, border)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3810000"/>
              <a:ext cx="5143500" cy="2190750"/>
              <a:chOff x="6286500" y="3810000"/>
              <a:chExt cx="5143500" cy="219075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6286500" y="3810000"/>
                <a:ext cx="5143500" cy="2190750"/>
              </a:xfrm>
              <a:prstGeom prst="roundRect">
                <a:avLst>
                  <a:gd name="adj" fmla="val 3478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564630" y="4076700"/>
                <a:ext cx="3765357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✔ Class Definition is Hidden / Sealed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566154" y="4490085"/>
                <a:ext cx="360367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When a class definition is hidden or otherwise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566154" y="4728210"/>
                <a:ext cx="348538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unavailable for subclassing (e.g. final class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566154" y="4966335"/>
                <a:ext cx="248381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or third-party binary library).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66916" y="5411152"/>
                <a:ext cx="30527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050" dirty="0">
                    <a:solidFill>
                      <a:srgbClr val="808090"/>
                    </a:solidFill>
                    <a:latin typeface="Segoe UI"/>
                    <a:ea typeface="Segoe UI"/>
                    <a:cs typeface="Segoe UI"/>
                  </a:rPr>
                  <a:t>Example: Wrapping a 3rd party stream class</a:t>
                </a:r>
              </a:p>
            </p:txBody>
          </p:sp>
        </p:grpSp>
      </p:grpSp>
      <p:sp>
        <p:nvSpPr>
          <p:cNvPr id="33" name="Rectangle 33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21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88781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Related Pattern: Strategy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53618" y="1250632"/>
            <a:ext cx="5623384" cy="3820669"/>
            <a:chOff x="753618" y="1250632"/>
            <a:chExt cx="5623384" cy="3820669"/>
          </a:xfrm>
        </p:grpSpPr>
        <p:sp>
          <p:nvSpPr>
            <p:cNvPr id="4" name="TextBox 4"/>
            <p:cNvSpPr txBox="1"/>
            <p:nvPr/>
          </p:nvSpPr>
          <p:spPr>
            <a:xfrm>
              <a:off x="753618" y="1250632"/>
              <a:ext cx="312104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Interchangeable Algorithms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5142" y="1711642"/>
              <a:ext cx="47510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The Strategy pattern defines a family of algorithms,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997392"/>
              <a:ext cx="51455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encapsulates each one, and makes them </a:t>
              </a:r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interchangeable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.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57175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807018"/>
              <a:ext cx="2619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💡 Core Difference in Intent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3156585"/>
              <a:ext cx="3220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Strategy changes the </a:t>
              </a:r>
              <a:r>
                <a:rPr lang="en-US" sz="120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GUTS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of an object.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3442335"/>
              <a:ext cx="32663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 changes the </a:t>
              </a:r>
              <a:r>
                <a:rPr lang="en-US" sz="1200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SKIN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of an object.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4045268"/>
              <a:ext cx="559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Strategy lets the algorithm vary independently from clients.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426268"/>
              <a:ext cx="551486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Objects hold a reference to a Strategy object and delegate.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807268"/>
              <a:ext cx="56218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Example: Payment strategies (Credit Card, PayPal, Crypto).</a:t>
              </a:r>
            </a:p>
          </p:txBody>
        </p:sp>
      </p:grp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33500"/>
            <a:ext cx="4572000" cy="45720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22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88943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Strategy Pattern Structure &amp; Code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351018" y="1343978"/>
            <a:ext cx="148996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StrategyExample.cpp</a:t>
            </a:r>
          </a:p>
        </p:txBody>
      </p:sp>
      <p:grpSp>
        <p:nvGrpSpPr>
          <p:cNvPr id="46" name="Group 46"/>
          <p:cNvGrpSpPr/>
          <p:nvPr/>
        </p:nvGrpSpPr>
        <p:grpSpPr>
          <a:xfrm>
            <a:off x="1137285" y="1688306"/>
            <a:ext cx="5541929" cy="3934778"/>
            <a:chOff x="1137285" y="1688306"/>
            <a:chExt cx="5541929" cy="3934778"/>
          </a:xfrm>
        </p:grpSpPr>
        <p:sp>
          <p:nvSpPr>
            <p:cNvPr id="7" name="TextBox 7"/>
            <p:cNvSpPr txBox="1"/>
            <p:nvPr/>
          </p:nvSpPr>
          <p:spPr>
            <a:xfrm>
              <a:off x="1137285" y="1688306"/>
              <a:ext cx="1863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1. Strategy Interface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7285" y="192643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1160" y="1926431"/>
              <a:ext cx="135927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PaymentStrategy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89910" y="1926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21645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785" y="240268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virtual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089785" y="240268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void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566035" y="2402681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pay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899410" y="2402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994660" y="2402681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28035" y="2402681"/>
              <a:ext cx="7502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amount) =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280535" y="2402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FF6B6B"/>
                  </a:solidFill>
                  <a:latin typeface="Consolas"/>
                  <a:ea typeface="Consolas"/>
                  <a:cs typeface="Consolas"/>
                </a:rPr>
                <a:t>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23410" y="24026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;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37285" y="264080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37285" y="3021806"/>
              <a:ext cx="194589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2. Concrete Strategies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137285" y="325993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661160" y="3259931"/>
              <a:ext cx="1065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CreditCardPay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2899410" y="32599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089910" y="3259931"/>
              <a:ext cx="4335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3661410" y="3259931"/>
              <a:ext cx="12950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PaymentStrategy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90160" y="3259931"/>
              <a:ext cx="59945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 ... };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137285" y="3640931"/>
              <a:ext cx="156272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3. Context Object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137285" y="3879056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661160" y="3879056"/>
              <a:ext cx="102620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ShoppingCart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2899410" y="38790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1137285" y="4117181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private: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327785" y="4355306"/>
              <a:ext cx="21705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PaymentStrategy* strategy;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37285" y="4593431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518285" y="483155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void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6910" y="4831556"/>
              <a:ext cx="154382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setPaymentStrategy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566160" y="4831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3661410" y="4831556"/>
              <a:ext cx="15070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PaymentStrategy* s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5280660" y="4831556"/>
              <a:ext cx="139855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) { strategy = s; }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518285" y="5117306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void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946910" y="5117306"/>
              <a:ext cx="67483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checkout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804160" y="51173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2899410" y="5117306"/>
              <a:ext cx="22251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int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3232785" y="5117306"/>
              <a:ext cx="228058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amt) { strategy-&gt;pay(amt); }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1137285" y="5403056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47" name="Rectangle 4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Box 48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23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98304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Decorator vs. Strategy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762000" y="1238250"/>
            <a:ext cx="10668000" cy="4381500"/>
            <a:chOff x="762000" y="1238250"/>
            <a:chExt cx="10668000" cy="43815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571500"/>
            </a:xfrm>
            <a:prstGeom prst="roundRect">
              <a:avLst>
                <a:gd name="adj" fmla="val 100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2183892" y="1454468"/>
              <a:ext cx="7543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Feature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17642" y="1454468"/>
              <a:ext cx="17625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Decorator Pattern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37142" y="1454468"/>
              <a:ext cx="16575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Strategy Pattern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762000" y="1905000"/>
              <a:ext cx="10668000" cy="857250"/>
            </a:xfrm>
            <a:prstGeom prst="roundRect">
              <a:avLst>
                <a:gd name="adj" fmla="val 4444"/>
              </a:avLst>
            </a:prstGeom>
            <a:solidFill>
              <a:srgbClr val="161B2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2251710"/>
              <a:ext cx="5344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Intent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804285" y="2164556"/>
              <a:ext cx="24585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Adds responsibilities to an object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3804285" y="2374106"/>
              <a:ext cx="243135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dynamically ("changes the skin")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423785" y="2164556"/>
              <a:ext cx="218713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Encapsulates interchangeable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423785" y="2374106"/>
              <a:ext cx="24238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algorithms ("changes the guts")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762000" y="2857500"/>
              <a:ext cx="10668000" cy="857250"/>
            </a:xfrm>
            <a:prstGeom prst="roundRect">
              <a:avLst>
                <a:gd name="adj" fmla="val 4444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1654" y="3204210"/>
              <a:ext cx="8144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Interface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804285" y="3117056"/>
              <a:ext cx="27831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 implements the exact same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4285" y="3326606"/>
              <a:ext cx="204688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interface as the component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423785" y="3117056"/>
              <a:ext cx="264724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Strategy interface is distinct from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423785" y="3326606"/>
              <a:ext cx="13958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the Context object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3810000"/>
              <a:ext cx="10668000" cy="857250"/>
            </a:xfrm>
            <a:prstGeom prst="roundRect">
              <a:avLst>
                <a:gd name="adj" fmla="val 4444"/>
              </a:avLst>
            </a:prstGeom>
            <a:solidFill>
              <a:srgbClr val="161B22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4156710"/>
              <a:ext cx="99253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Composition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804285" y="4069556"/>
              <a:ext cx="28938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Recursive nesting: Decorator can wrap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804285" y="4279106"/>
              <a:ext cx="211175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another Decorator infinitely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423785" y="4069556"/>
              <a:ext cx="237302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Single delegation: Context holds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7423785" y="4279106"/>
              <a:ext cx="1644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one Strategy instance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762000" y="4762500"/>
              <a:ext cx="10668000" cy="857250"/>
            </a:xfrm>
            <a:prstGeom prst="roundRect">
              <a:avLst>
                <a:gd name="adj" fmla="val 4444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1654" y="5109210"/>
              <a:ext cx="891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Awareness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04285" y="5022056"/>
              <a:ext cx="266251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Component is completely unaware of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04285" y="5231606"/>
              <a:ext cx="117993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being decorated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423785" y="5022056"/>
              <a:ext cx="25546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Context knows about Strategy and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423785" y="5231606"/>
              <a:ext cx="14513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explicitly invokes it</a:t>
              </a:r>
            </a:p>
          </p:txBody>
        </p:sp>
      </p:grpSp>
      <p:sp>
        <p:nvSpPr>
          <p:cNvPr id="33" name="Rectangle 33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24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502762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Strategy Pattern Summary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62000" y="1333500"/>
            <a:ext cx="10668000" cy="4572000"/>
            <a:chOff x="762000" y="1333500"/>
            <a:chExt cx="10668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4572000"/>
            </a:xfrm>
            <a:prstGeom prst="roundRect">
              <a:avLst>
                <a:gd name="adj" fmla="val 208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29868" y="1726882"/>
              <a:ext cx="1817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Key Takeaways: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31392" y="2235518"/>
              <a:ext cx="25284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1. Encapsulate what varies: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7904" y="2537460"/>
              <a:ext cx="48556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Isolate different algorithms into separate strategy classes.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1392" y="2997518"/>
              <a:ext cx="35039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2. Favor Composition over Inheritance: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7904" y="3299460"/>
              <a:ext cx="69557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Context delegates behavior to a strategy object rather than inheriting implementation.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1392" y="3759518"/>
              <a:ext cx="19979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3. Runtime Flexibility: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904" y="4061460"/>
              <a:ext cx="8143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Strategies can be swapped dynamically while the program is running (e.g. changing sorting algorithm).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1392" y="4521518"/>
              <a:ext cx="2635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4. Synergies with Decorator: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7904" y="4823460"/>
              <a:ext cx="79896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 strategy can be wrapped inside a decorator to combine interchangeable logic with layered behavior!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25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51488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Related Pattern: Facade Pattern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53618" y="1250632"/>
            <a:ext cx="6355262" cy="3820669"/>
            <a:chOff x="753618" y="1250632"/>
            <a:chExt cx="6355262" cy="3820669"/>
          </a:xfrm>
        </p:grpSpPr>
        <p:sp>
          <p:nvSpPr>
            <p:cNvPr id="4" name="TextBox 4"/>
            <p:cNvSpPr txBox="1"/>
            <p:nvPr/>
          </p:nvSpPr>
          <p:spPr>
            <a:xfrm>
              <a:off x="753618" y="1250632"/>
              <a:ext cx="402682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Simplified Interface to Subsystems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755142" y="1711642"/>
              <a:ext cx="39177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Provides a unified, simplified interface to a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755142" y="1997392"/>
              <a:ext cx="38224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complex set of interfaces in a </a:t>
              </a:r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subsystem</a:t>
              </a: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.</a:t>
              </a:r>
            </a:p>
          </p:txBody>
        </p:sp>
        <p:sp>
          <p:nvSpPr>
            <p:cNvPr id="7" name="Rectangle 7"/>
            <p:cNvSpPr/>
            <p:nvPr/>
          </p:nvSpPr>
          <p:spPr>
            <a:xfrm>
              <a:off x="762000" y="2571750"/>
              <a:ext cx="5143500" cy="1238250"/>
            </a:xfrm>
            <a:prstGeom prst="roundRect">
              <a:avLst>
                <a:gd name="adj" fmla="val 6154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40892" y="2807018"/>
              <a:ext cx="261933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💡 Core Difference in Intent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1654" y="3156585"/>
              <a:ext cx="26557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Facade </a:t>
              </a:r>
              <a:r>
                <a:rPr lang="en-US" sz="120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SIMPLIFIES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the interface.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1654" y="3442335"/>
              <a:ext cx="43013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 </a:t>
              </a:r>
              <a:r>
                <a:rPr lang="en-US" sz="1200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EXTENDS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the interface without changing it.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55142" y="4045268"/>
              <a:ext cx="63537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Defines a higher-level interface that makes subsystem easier to use.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55142" y="4426268"/>
              <a:ext cx="56901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Hides complex internal inter-module dependencies from client.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5142" y="4807268"/>
              <a:ext cx="50208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145732" indent="-145732" algn="l">
                <a:buClr>
                  <a:srgbClr val="C0C0D0"/>
                </a:buClr>
                <a:buSzTx/>
                <a:buFontTx/>
                <a:buChar char="•"/>
              </a:pPr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Example: One-button HomeTheater.watchMovie() API.</a:t>
              </a:r>
            </a:p>
          </p:txBody>
        </p:sp>
      </p:grpSp>
      <p:pic>
        <p:nvPicPr>
          <p:cNvPr id="15" name="Image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333500"/>
            <a:ext cx="4572000" cy="4572000"/>
          </a:xfrm>
          <a:prstGeom prst="rect">
            <a:avLst/>
          </a:prstGeom>
        </p:spPr>
      </p:pic>
      <p:sp>
        <p:nvSpPr>
          <p:cNvPr id="16" name="Rectangle 1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Box 1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26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551664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Facade Pattern Structure &amp; Code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Rectangle 4"/>
          <p:cNvSpPr/>
          <p:nvPr/>
        </p:nvSpPr>
        <p:spPr>
          <a:xfrm>
            <a:off x="762000" y="1238250"/>
            <a:ext cx="10668000" cy="4762500"/>
          </a:xfrm>
          <a:prstGeom prst="roundRect">
            <a:avLst>
              <a:gd name="adj" fmla="val 1600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" name="Rectangle 5"/>
          <p:cNvSpPr/>
          <p:nvPr/>
        </p:nvSpPr>
        <p:spPr>
          <a:xfrm>
            <a:off x="762000" y="123825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5253178" y="1343978"/>
            <a:ext cx="168564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HomeTheaterFacade.cpp</a:t>
            </a:r>
          </a:p>
        </p:txBody>
      </p:sp>
      <p:grpSp>
        <p:nvGrpSpPr>
          <p:cNvPr id="28" name="Group 28"/>
          <p:cNvGrpSpPr/>
          <p:nvPr/>
        </p:nvGrpSpPr>
        <p:grpSpPr>
          <a:xfrm>
            <a:off x="1137285" y="1688306"/>
            <a:ext cx="6169248" cy="3887153"/>
            <a:chOff x="1137285" y="1688306"/>
            <a:chExt cx="6169248" cy="3887153"/>
          </a:xfrm>
        </p:grpSpPr>
        <p:sp>
          <p:nvSpPr>
            <p:cNvPr id="7" name="TextBox 7"/>
            <p:cNvSpPr txBox="1"/>
            <p:nvPr/>
          </p:nvSpPr>
          <p:spPr>
            <a:xfrm>
              <a:off x="1137285" y="1688306"/>
              <a:ext cx="56212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Subsystem components (Amplifier, Tuner, DvdPlayer, Projector, Lights)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37285" y="1926431"/>
              <a:ext cx="38836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class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661160" y="1926431"/>
              <a:ext cx="15384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b="1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HomeTheaterFacade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375660" y="1926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{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137285" y="2164556"/>
              <a:ext cx="637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private: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327785" y="2402681"/>
              <a:ext cx="53887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Amplifier* amp; DvdPlayer* dvd; Projector* proj; TheaterLights* lights;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137285" y="2736056"/>
              <a:ext cx="51652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public: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327785" y="2974181"/>
              <a:ext cx="597874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HomeTheaterFacade(Amplifier* a, DvdPlayer* d, Projector* p, TheaterLights* l)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518285" y="3212306"/>
              <a:ext cx="293645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: amp(a), dvd(d), proj(p), lights(l) {}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327785" y="3593306"/>
              <a:ext cx="383128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One simple method hides complex multi-step calls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327785" y="3831431"/>
              <a:ext cx="30544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void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756410" y="3831431"/>
              <a:ext cx="868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watchMovie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708910" y="383143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804160" y="3831431"/>
              <a:ext cx="88592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std::string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51910" y="3831431"/>
              <a:ext cx="62960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movie) {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518285" y="4069556"/>
              <a:ext cx="125531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lights-&gt;dim(10);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518285" y="4307681"/>
              <a:ext cx="28366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proj-&gt;on(); proj-&gt;wideScreenMode();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518285" y="4545806"/>
              <a:ext cx="451812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amp-&gt;on(); amp-&gt;setSurroundSound(); amp-&gt;setVolume(5);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518285" y="4783931"/>
              <a:ext cx="225043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dvd-&gt;on(); dvd-&gt;play(movie);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327785" y="50220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37285" y="5355431"/>
              <a:ext cx="17728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};</a:t>
              </a:r>
            </a:p>
          </p:txBody>
        </p:sp>
      </p:grpSp>
      <p:sp>
        <p:nvSpPr>
          <p:cNvPr id="29" name="Rectangle 29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27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3610150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Decorator vs. Facade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32" name="Group 32"/>
          <p:cNvGrpSpPr/>
          <p:nvPr/>
        </p:nvGrpSpPr>
        <p:grpSpPr>
          <a:xfrm>
            <a:off x="762000" y="1333500"/>
            <a:ext cx="10668000" cy="4572000"/>
            <a:chOff x="762000" y="1333500"/>
            <a:chExt cx="10668000" cy="4572000"/>
          </a:xfrm>
        </p:grpSpPr>
        <p:grpSp>
          <p:nvGrpSpPr>
            <p:cNvPr id="17" name="Group 17"/>
            <p:cNvGrpSpPr/>
            <p:nvPr/>
          </p:nvGrpSpPr>
          <p:grpSpPr>
            <a:xfrm>
              <a:off x="762000" y="1333500"/>
              <a:ext cx="5143500" cy="4572000"/>
              <a:chOff x="762000" y="1333500"/>
              <a:chExt cx="5143500" cy="4572000"/>
            </a:xfrm>
          </p:grpSpPr>
          <p:sp>
            <p:nvSpPr>
              <p:cNvPr id="4" name="Rectangle 4"/>
              <p:cNvSpPr/>
              <p:nvPr/>
            </p:nvSpPr>
            <p:spPr>
              <a:xfrm>
                <a:off x="762000" y="1333500"/>
                <a:ext cx="5143500" cy="4572000"/>
              </a:xfrm>
              <a:prstGeom prst="roundRect">
                <a:avLst>
                  <a:gd name="adj" fmla="val 208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" name="Rectangle 5"/>
              <p:cNvSpPr/>
              <p:nvPr/>
            </p:nvSpPr>
            <p:spPr>
              <a:xfrm>
                <a:off x="762000" y="1333500"/>
                <a:ext cx="51435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00D4AA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133856" y="1615440"/>
                <a:ext cx="2349999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Decorator Pattern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136142" y="2140268"/>
                <a:ext cx="1648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Primary Purpose: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136904" y="2442210"/>
                <a:ext cx="38382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Adds or enhances responsibilities of an object.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136904" y="2727960"/>
                <a:ext cx="338599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Does NOT alter the underlying interface.</a:t>
                </a: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136142" y="3188018"/>
                <a:ext cx="2200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Interface Relationship:</a:t>
                </a: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136904" y="3489960"/>
                <a:ext cx="324094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Same interface as wrapped component.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136904" y="3775710"/>
                <a:ext cx="3903225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Client is unaware of decoration (transparent).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136142" y="4235768"/>
                <a:ext cx="1935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Nesting &amp; Recursion: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1136904" y="4537710"/>
                <a:ext cx="323268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Highly recursive — decorators can wrap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136904" y="4775835"/>
                <a:ext cx="229804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other decorators in a stack.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136904" y="5299710"/>
                <a:ext cx="331161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Motto: "Same interface, extra behavior"</a:t>
                </a: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6286500" y="1333500"/>
              <a:ext cx="5143500" cy="4572000"/>
              <a:chOff x="6286500" y="1333500"/>
              <a:chExt cx="5143500" cy="4572000"/>
            </a:xfrm>
          </p:grpSpPr>
          <p:sp>
            <p:nvSpPr>
              <p:cNvPr id="18" name="Rectangle 18"/>
              <p:cNvSpPr/>
              <p:nvPr/>
            </p:nvSpPr>
            <p:spPr>
              <a:xfrm>
                <a:off x="6286500" y="1333500"/>
                <a:ext cx="5143500" cy="4572000"/>
              </a:xfrm>
              <a:prstGeom prst="roundRect">
                <a:avLst>
                  <a:gd name="adj" fmla="val 2083"/>
                </a:avLst>
              </a:prstGeom>
              <a:solidFill>
                <a:srgbClr val="252640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6286500" y="1333500"/>
                <a:ext cx="5143500" cy="76200"/>
              </a:xfrm>
              <a:prstGeom prst="roundRect">
                <a:avLst>
                  <a:gd name="adj" fmla="val 50000"/>
                </a:avLst>
              </a:prstGeom>
              <a:solidFill>
                <a:srgbClr val="6C63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58356" y="1615440"/>
                <a:ext cx="1930312" cy="35204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800" b="1" dirty="0">
                    <a:solidFill>
                      <a:srgbClr val="6C63FF"/>
                    </a:solidFill>
                    <a:latin typeface="Segoe UI"/>
                    <a:ea typeface="Segoe UI"/>
                    <a:cs typeface="Segoe UI"/>
                  </a:rPr>
                  <a:t>Facade Pattern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660642" y="2140268"/>
                <a:ext cx="1648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Primary Purpose: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6661404" y="2442210"/>
                <a:ext cx="345065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Simplifies access to an entire subsystem.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6661404" y="2727960"/>
                <a:ext cx="287843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Creates a NEW, simpler interface.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6660642" y="3188018"/>
                <a:ext cx="220083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Interface Relationship: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6661404" y="3489960"/>
                <a:ext cx="2820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Brand new, convenient interface.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6661404" y="3775710"/>
                <a:ext cx="3442289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Client interacts only with the facade API.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6660642" y="4235768"/>
                <a:ext cx="193545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Nesting &amp; Recursion: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6661404" y="4537710"/>
                <a:ext cx="337023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marL="129540" indent="-129540" algn="l">
                  <a:buClr>
                    <a:srgbClr val="C0C0D0"/>
                  </a:buClr>
                  <a:buSzTx/>
                  <a:buFontTx/>
                  <a:buChar char="•"/>
                </a:pPr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Non-recursive — acts as a single gateway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6661404" y="4775835"/>
                <a:ext cx="331576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to multiple underlying subsystem objects.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661404" y="5299710"/>
                <a:ext cx="32147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i="1" dirty="0">
                    <a:solidFill>
                      <a:srgbClr val="6C63FF"/>
                    </a:solidFill>
                    <a:latin typeface="Segoe UI"/>
                    <a:ea typeface="Segoe UI"/>
                    <a:cs typeface="Segoe UI"/>
                  </a:rPr>
                  <a:t>Motto: "New interface, simpler access"</a:t>
                </a:r>
              </a:p>
            </p:txBody>
          </p:sp>
        </p:grpSp>
      </p:grpSp>
      <p:sp>
        <p:nvSpPr>
          <p:cNvPr id="33" name="Rectangle 33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Box 34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28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129857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Facade Pattern Summary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14"/>
          <p:cNvGrpSpPr/>
          <p:nvPr/>
        </p:nvGrpSpPr>
        <p:grpSpPr>
          <a:xfrm>
            <a:off x="762000" y="1333500"/>
            <a:ext cx="10668000" cy="4572000"/>
            <a:chOff x="762000" y="1333500"/>
            <a:chExt cx="10668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4572000"/>
            </a:xfrm>
            <a:prstGeom prst="roundRect">
              <a:avLst>
                <a:gd name="adj" fmla="val 208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229868" y="1726882"/>
              <a:ext cx="1817799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Key Takeaways: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31392" y="2235518"/>
              <a:ext cx="45552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1. Principle of Least Knowledge (Law of Demeter):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517904" y="2537460"/>
              <a:ext cx="76559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Talk only to your immediate friends. Facade reduces client dependencies on complex subsystems.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1392" y="2997518"/>
              <a:ext cx="33863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2. Decouples Subsystem from Clients: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517904" y="3299460"/>
              <a:ext cx="7367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Clients don't need to know how subsystem classes work together or manage their lifecycles.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1392" y="3759518"/>
              <a:ext cx="32241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3. Does NOT Prevent Direct Access: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17904" y="4061460"/>
              <a:ext cx="984744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Facade provides a convenient interface for general tasks, but advanced clients can still access subsystem classes directly.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231392" y="4521518"/>
              <a:ext cx="2081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4. Combining Patterns: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7904" y="4823460"/>
              <a:ext cx="83878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 Facade can use Decorators internally to dynamically configure subsystem components before invocation!</a:t>
              </a:r>
            </a:p>
          </p:txBody>
        </p:sp>
      </p:grpSp>
      <p:sp>
        <p:nvSpPr>
          <p:cNvPr id="15" name="Rectangle 1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29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907213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Pattern Comparison: Decorator vs Strategy vs Facade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5" name="Group 5"/>
          <p:cNvGrpSpPr/>
          <p:nvPr/>
        </p:nvGrpSpPr>
        <p:grpSpPr>
          <a:xfrm>
            <a:off x="755142" y="1187768"/>
            <a:ext cx="7143916" cy="264033"/>
            <a:chOff x="755142" y="1187768"/>
            <a:chExt cx="7143916" cy="264033"/>
          </a:xfrm>
        </p:grpSpPr>
        <p:sp>
          <p:nvSpPr>
            <p:cNvPr id="4" name="TextBox 4"/>
            <p:cNvSpPr txBox="1"/>
            <p:nvPr/>
          </p:nvSpPr>
          <p:spPr>
            <a:xfrm>
              <a:off x="755142" y="1187768"/>
              <a:ext cx="714391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Three structural &amp; behavioral patterns working together to manage complexity:</a:t>
              </a:r>
            </a:p>
          </p:txBody>
        </p:sp>
      </p:grpSp>
      <p:pic>
        <p:nvPicPr>
          <p:cNvPr id="6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4844" y="1619250"/>
            <a:ext cx="5802312" cy="3238500"/>
          </a:xfrm>
          <a:prstGeom prst="rect">
            <a:avLst/>
          </a:prstGeom>
        </p:spPr>
      </p:pic>
      <p:sp>
        <p:nvSpPr>
          <p:cNvPr id="7" name="Rectangle 7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30 / 39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762000" y="5048250"/>
            <a:ext cx="3333750" cy="857250"/>
            <a:chOff x="762000" y="5048250"/>
            <a:chExt cx="3333750" cy="857250"/>
          </a:xfrm>
        </p:grpSpPr>
        <p:sp>
          <p:nvSpPr>
            <p:cNvPr id="9" name="Rectangle 9"/>
            <p:cNvSpPr/>
            <p:nvPr/>
          </p:nvSpPr>
          <p:spPr>
            <a:xfrm>
              <a:off x="762000" y="50482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5642" y="5207318"/>
              <a:ext cx="96423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Decorator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7166" y="5506402"/>
              <a:ext cx="200841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Wraps object to add behavior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7547" y="5685949"/>
              <a:ext cx="2197722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Same interface, layered features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4429125" y="5048250"/>
            <a:ext cx="3333750" cy="857250"/>
            <a:chOff x="4429125" y="5048250"/>
            <a:chExt cx="3333750" cy="857250"/>
          </a:xfrm>
        </p:grpSpPr>
        <p:sp>
          <p:nvSpPr>
            <p:cNvPr id="14" name="Rectangle 14"/>
            <p:cNvSpPr/>
            <p:nvPr/>
          </p:nvSpPr>
          <p:spPr>
            <a:xfrm>
              <a:off x="4429125" y="50482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12767" y="5207318"/>
              <a:ext cx="6493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Facade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14291" y="5506402"/>
              <a:ext cx="192322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Simplifies entire subsystem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614672" y="5685949"/>
              <a:ext cx="1577270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New simplified interface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8096250" y="5048250"/>
            <a:ext cx="3333750" cy="857250"/>
            <a:chOff x="8096250" y="5048250"/>
            <a:chExt cx="3333750" cy="857250"/>
          </a:xfrm>
        </p:grpSpPr>
        <p:sp>
          <p:nvSpPr>
            <p:cNvPr id="19" name="Rectangle 19"/>
            <p:cNvSpPr/>
            <p:nvPr/>
          </p:nvSpPr>
          <p:spPr>
            <a:xfrm>
              <a:off x="8096250" y="5048250"/>
              <a:ext cx="3333750" cy="857250"/>
            </a:xfrm>
            <a:prstGeom prst="roundRect">
              <a:avLst>
                <a:gd name="adj" fmla="val 6667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279892" y="5207318"/>
              <a:ext cx="8592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Strategy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281416" y="5506402"/>
              <a:ext cx="202930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Swaps algorithms dynamically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281797" y="5685949"/>
              <a:ext cx="2045557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8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Interchangeable implementation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408189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Real-world Example: Java I/O Streams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755142" y="1092518"/>
            <a:ext cx="7230121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Java's </a:t>
            </a:r>
            <a:r>
              <a:rPr lang="en-US" sz="1350" dirty="0">
                <a:solidFill>
                  <a:srgbClr val="00D4AA"/>
                </a:solidFill>
                <a:latin typeface="Consolas"/>
                <a:ea typeface="Consolas"/>
                <a:cs typeface="Consolas"/>
              </a:rPr>
              <a:t>java.io</a:t>
            </a:r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 package is the textbook implementation of the Decorator Pattern!</a:t>
            </a:r>
          </a:p>
        </p:txBody>
      </p:sp>
      <p:sp>
        <p:nvSpPr>
          <p:cNvPr id="5" name="Rectangle 5"/>
          <p:cNvSpPr/>
          <p:nvPr/>
        </p:nvSpPr>
        <p:spPr>
          <a:xfrm>
            <a:off x="762000" y="1524000"/>
            <a:ext cx="10668000" cy="2476500"/>
          </a:xfrm>
          <a:prstGeom prst="roundRect">
            <a:avLst>
              <a:gd name="adj" fmla="val 3077"/>
            </a:avLst>
          </a:prstGeom>
          <a:solidFill>
            <a:srgbClr val="0D1117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Rectangle 6"/>
          <p:cNvSpPr/>
          <p:nvPr/>
        </p:nvSpPr>
        <p:spPr>
          <a:xfrm>
            <a:off x="762000" y="1524000"/>
            <a:ext cx="10668000" cy="333375"/>
          </a:xfrm>
          <a:prstGeom prst="roundRect">
            <a:avLst>
              <a:gd name="adj" fmla="val 22857"/>
            </a:avLst>
          </a:prstGeom>
          <a:solidFill>
            <a:srgbClr val="161B2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5406726" y="1629728"/>
            <a:ext cx="137854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Consolas"/>
                <a:ea typeface="Consolas"/>
                <a:cs typeface="Consolas"/>
              </a:rPr>
              <a:t>JavaIOExample.java</a:t>
            </a:r>
          </a:p>
        </p:txBody>
      </p:sp>
      <p:grpSp>
        <p:nvGrpSpPr>
          <p:cNvPr id="26" name="Group 26"/>
          <p:cNvGrpSpPr/>
          <p:nvPr/>
        </p:nvGrpSpPr>
        <p:grpSpPr>
          <a:xfrm>
            <a:off x="1137285" y="2021681"/>
            <a:ext cx="6847895" cy="1791653"/>
            <a:chOff x="1137285" y="2021681"/>
            <a:chExt cx="6847895" cy="1791653"/>
          </a:xfrm>
        </p:grpSpPr>
        <p:sp>
          <p:nvSpPr>
            <p:cNvPr id="8" name="TextBox 8"/>
            <p:cNvSpPr txBox="1"/>
            <p:nvPr/>
          </p:nvSpPr>
          <p:spPr>
            <a:xfrm>
              <a:off x="1137285" y="2021681"/>
              <a:ext cx="36459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Combining File + Buffered + GZIP input streams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37285" y="2307431"/>
              <a:ext cx="92538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InputStream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89785" y="2307431"/>
              <a:ext cx="26774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E8E8F0"/>
                  </a:solidFill>
                  <a:latin typeface="Consolas"/>
                  <a:ea typeface="Consolas"/>
                  <a:cs typeface="Consolas"/>
                </a:rPr>
                <a:t>in =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327785" y="264080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08785" y="2640806"/>
              <a:ext cx="123722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GZIPInputStream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42285" y="264080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185285" y="2640806"/>
              <a:ext cx="263921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Decorator 2: Decompresses data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708785" y="2974181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89785" y="2974181"/>
              <a:ext cx="159349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BufferedInputStream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804285" y="2974181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185285" y="2974181"/>
              <a:ext cx="232257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Decorator 1: Adds buffering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89785" y="3307556"/>
              <a:ext cx="29036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6C63FF"/>
                  </a:solidFill>
                  <a:latin typeface="Consolas"/>
                  <a:ea typeface="Consolas"/>
                  <a:cs typeface="Consolas"/>
                </a:rPr>
                <a:t>new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470785" y="3307556"/>
              <a:ext cx="1185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FileInputStream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3804285" y="3307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(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94785" y="3307556"/>
              <a:ext cx="1089467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00D4AA"/>
                  </a:solidFill>
                  <a:latin typeface="Consolas"/>
                  <a:ea typeface="Consolas"/>
                  <a:cs typeface="Consolas"/>
                </a:rPr>
                <a:t>"data.txt.gz"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137785" y="3307556"/>
              <a:ext cx="9435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423535" y="3307556"/>
              <a:ext cx="256164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808090"/>
                  </a:solidFill>
                  <a:latin typeface="Consolas"/>
                  <a:ea typeface="Consolas"/>
                  <a:cs typeface="Consolas"/>
                </a:rPr>
                <a:t>// Base Component: Reads raw file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708785" y="3593306"/>
              <a:ext cx="26020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120" dirty="0">
                  <a:solidFill>
                    <a:srgbClr val="C0C0D0"/>
                  </a:solidFill>
                  <a:latin typeface="Consolas"/>
                  <a:ea typeface="Consolas"/>
                  <a:cs typeface="Consolas"/>
                </a:rPr>
                <a:t>));</a:t>
              </a:r>
            </a:p>
          </p:txBody>
        </p:sp>
      </p:grpSp>
      <p:sp>
        <p:nvSpPr>
          <p:cNvPr id="46" name="Rectangle 4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Box 4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31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607585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Real-world Example: Web Middleware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0" y="1333500"/>
            <a:ext cx="3556000" cy="4762500"/>
          </a:xfrm>
          <a:prstGeom prst="rect">
            <a:avLst/>
          </a:prstGeom>
        </p:spPr>
      </p:pic>
      <p:sp>
        <p:nvSpPr>
          <p:cNvPr id="5" name="Rectangle 5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6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32 / 39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62000" y="2381250"/>
            <a:ext cx="5334000" cy="762000"/>
            <a:chOff x="762000" y="2381250"/>
            <a:chExt cx="5334000" cy="762000"/>
          </a:xfrm>
        </p:grpSpPr>
        <p:sp>
          <p:nvSpPr>
            <p:cNvPr id="7" name="Rectangle 7"/>
            <p:cNvSpPr/>
            <p:nvPr/>
          </p:nvSpPr>
          <p:spPr>
            <a:xfrm>
              <a:off x="762000" y="238125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94029" y="2537460"/>
              <a:ext cx="1839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1. Logging Middleware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94791" y="2839402"/>
              <a:ext cx="3743230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Logs request timestamp &amp; IP, then calls next handler.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762000" y="3286125"/>
            <a:ext cx="5334000" cy="762000"/>
            <a:chOff x="762000" y="3286125"/>
            <a:chExt cx="5334000" cy="762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286125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94029" y="3442335"/>
              <a:ext cx="244921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2. Authentication Middleware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94791" y="3744278"/>
              <a:ext cx="378002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Verifies JWT token. Rejects if invalid, else calls next.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4191000"/>
            <a:ext cx="5334000" cy="762000"/>
            <a:chOff x="762000" y="4191000"/>
            <a:chExt cx="5334000" cy="762000"/>
          </a:xfrm>
        </p:grpSpPr>
        <p:sp>
          <p:nvSpPr>
            <p:cNvPr id="15" name="Rectangle 15"/>
            <p:cNvSpPr/>
            <p:nvPr/>
          </p:nvSpPr>
          <p:spPr>
            <a:xfrm>
              <a:off x="762000" y="4191000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94029" y="4347210"/>
              <a:ext cx="22462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3. Compression Middleware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94791" y="4649152"/>
              <a:ext cx="364586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Compresses response body with Gzip before sending.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762000" y="5095875"/>
            <a:ext cx="5334000" cy="762000"/>
            <a:chOff x="762000" y="5095875"/>
            <a:chExt cx="5334000" cy="762000"/>
          </a:xfrm>
        </p:grpSpPr>
        <p:sp>
          <p:nvSpPr>
            <p:cNvPr id="19" name="Rectangle 19"/>
            <p:cNvSpPr/>
            <p:nvPr/>
          </p:nvSpPr>
          <p:spPr>
            <a:xfrm>
              <a:off x="762000" y="5095875"/>
              <a:ext cx="5334000" cy="762000"/>
            </a:xfrm>
            <a:prstGeom prst="roundRect">
              <a:avLst>
                <a:gd name="adj" fmla="val 7500"/>
              </a:avLst>
            </a:prstGeom>
            <a:solidFill>
              <a:srgbClr val="252640"/>
            </a:solidFill>
            <a:ln w="9525">
              <a:solidFill>
                <a:srgbClr val="00D4AA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994029" y="5252085"/>
              <a:ext cx="20572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4. Core Route Controller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94791" y="5554028"/>
              <a:ext cx="455737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ConcreteComponent that handles business logic and returns data.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754380" y="1171575"/>
            <a:ext cx="3421776" cy="29337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500" b="1" dirty="0">
                <a:solidFill>
                  <a:srgbClr val="00D4AA"/>
                </a:solidFill>
                <a:latin typeface="Segoe UI"/>
                <a:ea typeface="Segoe UI"/>
                <a:cs typeface="Segoe UI"/>
              </a:rPr>
              <a:t>HTTP Request Processing Pipeline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55142" y="1568768"/>
            <a:ext cx="563561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In modern backend frameworks (Express.js, ASP.NET, Go Gin),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55142" y="1854518"/>
            <a:ext cx="4326829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350" dirty="0">
                <a:solidFill>
                  <a:srgbClr val="C0C0D0"/>
                </a:solidFill>
                <a:latin typeface="Segoe UI"/>
                <a:ea typeface="Segoe UI"/>
                <a:cs typeface="Segoe UI"/>
              </a:rPr>
              <a:t>middleware functions form a Decorator pipeline: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778730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Mini Quiz: Test Your Understanding (Part 1/5)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 1: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1273" y="1814989"/>
              <a:ext cx="6181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Which GoF pattern would you choose if you need to attach dynamic logging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41273" y="2053114"/>
              <a:ext cx="7138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and caching features to an existing Third-Party Stream object without modifying it?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2154" y="2489835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Strategy Pattern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154" y="2775585"/>
              <a:ext cx="137569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r>
                <a:rPr lang="vi-VN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</a:t>
              </a:r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) </a:t>
              </a:r>
              <a:r>
                <a:rPr lang="vi-VN" sz="1200" dirty="0" err="1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Decorator</a:t>
              </a:r>
              <a:r>
                <a:rPr lang="vi-VN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 </a:t>
              </a:r>
              <a:r>
                <a:rPr lang="vi-VN" sz="1200" dirty="0" err="1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Pattern</a:t>
              </a:r>
              <a:endParaRPr lang="en-US" sz="1200" dirty="0">
                <a:solidFill>
                  <a:srgbClr val="C0C0D0"/>
                </a:solidFill>
                <a:latin typeface="Segoe UI"/>
                <a:ea typeface="Segoe UI"/>
                <a:cs typeface="Segoe UI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232154" y="3061335"/>
              <a:ext cx="1459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Facade Pattern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2" name="Rectangle 12"/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Question 2: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273" y="4291489"/>
              <a:ext cx="6018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What is the main structural difference between Decorator and Facade?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4775835"/>
              <a:ext cx="58374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bg1">
                      <a:lumMod val="75000"/>
                    </a:schemeClr>
                  </a:solidFill>
                  <a:latin typeface="Segoe UI"/>
                  <a:ea typeface="Segoe UI"/>
                  <a:cs typeface="Segoe UI"/>
                </a:rPr>
                <a:t>A) Decorator retains component interface; Facade defines a new simplified interface. 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5109210"/>
              <a:ext cx="5271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B) Decorator cannot be nested; Facade can be nested recursively.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232154" y="5442585"/>
              <a:ext cx="6466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Facade alters behavior at compile time; Decorator alters behavior at runtime.</a:t>
              </a:r>
            </a:p>
          </p:txBody>
        </p:sp>
      </p:grpSp>
      <p:sp>
        <p:nvSpPr>
          <p:cNvPr id="19" name="Rectangle 19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Box 20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33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16DEC7-D2A2-52BF-9A48-FAAA622AC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1C0C82F1-2938-9850-A5CE-A5B7B6CF291E}"/>
              </a:ext>
            </a:extLst>
          </p:cNvPr>
          <p:cNvSpPr txBox="1"/>
          <p:nvPr/>
        </p:nvSpPr>
        <p:spPr>
          <a:xfrm>
            <a:off x="749808" y="426720"/>
            <a:ext cx="778730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Mini Quiz: Test Your Understanding (Part 1/5)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3911805D-A080-C3CB-8097-84BC3599C3E3}"/>
              </a:ext>
            </a:extLst>
          </p:cNvPr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1" name="Group 11">
            <a:extLst>
              <a:ext uri="{FF2B5EF4-FFF2-40B4-BE49-F238E27FC236}">
                <a16:creationId xmlns:a16="http://schemas.microsoft.com/office/drawing/2014/main" id="{CF331230-9F6A-78A5-A42B-CE9340F34071}"/>
              </a:ext>
            </a:extLst>
          </p:cNvPr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59557F1A-BA3D-1402-B007-837B1589B192}"/>
                </a:ext>
              </a:extLst>
            </p:cNvPr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A91F979-B80F-C054-D16D-C28A376D118D}"/>
                </a:ext>
              </a:extLst>
            </p:cNvPr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1: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CDDD501-6300-ABE2-AA2C-3C0EAD7DF6FA}"/>
                </a:ext>
              </a:extLst>
            </p:cNvPr>
            <p:cNvSpPr txBox="1"/>
            <p:nvPr/>
          </p:nvSpPr>
          <p:spPr>
            <a:xfrm>
              <a:off x="1041273" y="1814989"/>
              <a:ext cx="618196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Which GoF pattern would you choose if you need to attach dynamic logging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334D05CF-6F5C-862B-82B1-AAF1A0E7B505}"/>
                </a:ext>
              </a:extLst>
            </p:cNvPr>
            <p:cNvSpPr txBox="1"/>
            <p:nvPr/>
          </p:nvSpPr>
          <p:spPr>
            <a:xfrm>
              <a:off x="1041273" y="2053114"/>
              <a:ext cx="7138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and caching features to an existing Third-Party Stream object without modifying it?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5847246-0F9F-6838-7353-D6379EA59DD9}"/>
                </a:ext>
              </a:extLst>
            </p:cNvPr>
            <p:cNvSpPr txBox="1"/>
            <p:nvPr/>
          </p:nvSpPr>
          <p:spPr>
            <a:xfrm>
              <a:off x="1232154" y="2489835"/>
              <a:ext cx="16366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Strategy Pattern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DBF3C7A-1DB4-D6E2-C0E8-420A4ABA4B83}"/>
                </a:ext>
              </a:extLst>
            </p:cNvPr>
            <p:cNvSpPr txBox="1"/>
            <p:nvPr/>
          </p:nvSpPr>
          <p:spPr>
            <a:xfrm>
              <a:off x="1232154" y="2775585"/>
              <a:ext cx="706417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Decorator Pattern ✓ (Correct! Wraps object dynamically while sharing interface)</a:t>
              </a:r>
            </a:p>
          </p:txBody>
        </p:sp>
        <p:sp>
          <p:nvSpPr>
            <p:cNvPr id="10" name="TextBox 10">
              <a:extLst>
                <a:ext uri="{FF2B5EF4-FFF2-40B4-BE49-F238E27FC236}">
                  <a16:creationId xmlns:a16="http://schemas.microsoft.com/office/drawing/2014/main" id="{20D12668-B51B-3934-F20D-625A9B9065B9}"/>
                </a:ext>
              </a:extLst>
            </p:cNvPr>
            <p:cNvSpPr txBox="1"/>
            <p:nvPr/>
          </p:nvSpPr>
          <p:spPr>
            <a:xfrm>
              <a:off x="1232154" y="3061335"/>
              <a:ext cx="1459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Facade Pattern</a:t>
              </a:r>
            </a:p>
          </p:txBody>
        </p:sp>
      </p:grpSp>
      <p:grpSp>
        <p:nvGrpSpPr>
          <p:cNvPr id="18" name="Group 18">
            <a:extLst>
              <a:ext uri="{FF2B5EF4-FFF2-40B4-BE49-F238E27FC236}">
                <a16:creationId xmlns:a16="http://schemas.microsoft.com/office/drawing/2014/main" id="{4F1A787A-DED0-6073-C6D0-4FFFE592CC48}"/>
              </a:ext>
            </a:extLst>
          </p:cNvPr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2" name="Rectangle 12">
              <a:extLst>
                <a:ext uri="{FF2B5EF4-FFF2-40B4-BE49-F238E27FC236}">
                  <a16:creationId xmlns:a16="http://schemas.microsoft.com/office/drawing/2014/main" id="{BB8E5D50-F468-177E-8A82-63D0BE605445}"/>
                </a:ext>
              </a:extLst>
            </p:cNvPr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BAB75B10-9FFF-0CE6-8B62-AECBF2DAD0C8}"/>
                </a:ext>
              </a:extLst>
            </p:cNvPr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6C63FF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2: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1F80016E-2373-A3A2-26B6-752C507BCD5F}"/>
                </a:ext>
              </a:extLst>
            </p:cNvPr>
            <p:cNvSpPr txBox="1"/>
            <p:nvPr/>
          </p:nvSpPr>
          <p:spPr>
            <a:xfrm>
              <a:off x="1041273" y="4291489"/>
              <a:ext cx="601838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What is the main structural difference between Decorator and Facade?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579A9423-1F5B-B98C-CB6B-491A85FBC354}"/>
                </a:ext>
              </a:extLst>
            </p:cNvPr>
            <p:cNvSpPr txBox="1"/>
            <p:nvPr/>
          </p:nvSpPr>
          <p:spPr>
            <a:xfrm>
              <a:off x="1232154" y="4775835"/>
              <a:ext cx="7425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Decorator retains component interface; Facade defines a new simplified interface. ✓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0CC348FD-C2D1-47C3-2DC9-961B61BE4AA1}"/>
                </a:ext>
              </a:extLst>
            </p:cNvPr>
            <p:cNvSpPr txBox="1"/>
            <p:nvPr/>
          </p:nvSpPr>
          <p:spPr>
            <a:xfrm>
              <a:off x="1232154" y="5109210"/>
              <a:ext cx="52714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Decorator cannot be nested; Facade can be nested recursively.</a:t>
              </a:r>
            </a:p>
          </p:txBody>
        </p:sp>
        <p:sp>
          <p:nvSpPr>
            <p:cNvPr id="17" name="TextBox 17">
              <a:extLst>
                <a:ext uri="{FF2B5EF4-FFF2-40B4-BE49-F238E27FC236}">
                  <a16:creationId xmlns:a16="http://schemas.microsoft.com/office/drawing/2014/main" id="{FE33F6B1-DFE0-165B-F0FD-037A9A078F39}"/>
                </a:ext>
              </a:extLst>
            </p:cNvPr>
            <p:cNvSpPr txBox="1"/>
            <p:nvPr/>
          </p:nvSpPr>
          <p:spPr>
            <a:xfrm>
              <a:off x="1232154" y="5442585"/>
              <a:ext cx="6466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Facade alters behavior at compile time; Decorator alters behavior at runtime.</a:t>
              </a:r>
            </a:p>
          </p:txBody>
        </p:sp>
      </p:grpSp>
      <p:sp>
        <p:nvSpPr>
          <p:cNvPr id="19" name="Rectangle 19">
            <a:extLst>
              <a:ext uri="{FF2B5EF4-FFF2-40B4-BE49-F238E27FC236}">
                <a16:creationId xmlns:a16="http://schemas.microsoft.com/office/drawing/2014/main" id="{A335C8C4-6C0C-18B8-DD48-CA968A07BE50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Box 20">
            <a:extLst>
              <a:ext uri="{FF2B5EF4-FFF2-40B4-BE49-F238E27FC236}">
                <a16:creationId xmlns:a16="http://schemas.microsoft.com/office/drawing/2014/main" id="{0B1EE850-F2B7-4F62-306C-4F38ADFD6AEE}"/>
              </a:ext>
            </a:extLst>
          </p:cNvPr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9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33 / 39</a:t>
            </a:r>
          </a:p>
        </p:txBody>
      </p:sp>
    </p:spTree>
    <p:extLst>
      <p:ext uri="{BB962C8B-B14F-4D97-AF65-F5344CB8AC3E}">
        <p14:creationId xmlns:p14="http://schemas.microsoft.com/office/powerpoint/2010/main" val="4187412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13D538-3032-DAFF-BE63-EA3E063AE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0F59D925-E775-05DC-D8D4-54139AF37C5F}"/>
              </a:ext>
            </a:extLst>
          </p:cNvPr>
          <p:cNvSpPr txBox="1"/>
          <p:nvPr/>
        </p:nvSpPr>
        <p:spPr>
          <a:xfrm>
            <a:off x="749808" y="426720"/>
            <a:ext cx="8045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Mini Quiz: Interface &amp; Combinatorics (Part 2/5)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A6148E44-8B44-CB34-674A-0C5D4127F895}"/>
              </a:ext>
            </a:extLst>
          </p:cNvPr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7BE98C08-71D2-546E-E04F-5C39288802B8}"/>
              </a:ext>
            </a:extLst>
          </p:cNvPr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BF8B7F0-9D33-41A5-1C13-93A5CDD7D48F}"/>
                </a:ext>
              </a:extLst>
            </p:cNvPr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6C1CCB0C-3727-07E5-1694-9652B196BC52}"/>
                </a:ext>
              </a:extLst>
            </p:cNvPr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3: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A430783-4857-CB6A-AEA1-D75522275AFF}"/>
                </a:ext>
              </a:extLst>
            </p:cNvPr>
            <p:cNvSpPr txBox="1"/>
            <p:nvPr/>
          </p:nvSpPr>
          <p:spPr>
            <a:xfrm>
              <a:off x="1041273" y="1814989"/>
              <a:ext cx="7428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Why must the Base Decorator class implement or inherit from the Component interface?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40D1787B-8DD5-7508-984C-7DA1FCF203E8}"/>
                </a:ext>
              </a:extLst>
            </p:cNvPr>
            <p:cNvSpPr txBox="1"/>
            <p:nvPr/>
          </p:nvSpPr>
          <p:spPr>
            <a:xfrm>
              <a:off x="1232154" y="2299335"/>
              <a:ext cx="6008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To allow decorators to inherit private state variables from components.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070C344-1657-7601-BCBC-02BD66FE1F4C}"/>
                </a:ext>
              </a:extLst>
            </p:cNvPr>
            <p:cNvSpPr txBox="1"/>
            <p:nvPr/>
          </p:nvSpPr>
          <p:spPr>
            <a:xfrm>
              <a:off x="1232154" y="2632710"/>
              <a:ext cx="591097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To guarantee interface conformance so clients treat wrapped objects transparently. 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0A22C5E1-5364-AD78-B391-EC8CD3F386E5}"/>
                </a:ext>
              </a:extLst>
            </p:cNvPr>
            <p:cNvSpPr txBox="1"/>
            <p:nvPr/>
          </p:nvSpPr>
          <p:spPr>
            <a:xfrm>
              <a:off x="1232154" y="2966085"/>
              <a:ext cx="5828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To prevent other subclasses from extending the Component interface.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F585B11-FDB0-4434-6EFC-1AF6AF345AAA}"/>
              </a:ext>
            </a:extLst>
          </p:cNvPr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AD64E11F-7E10-5BCE-78FF-86DC8D8BA878}"/>
                </a:ext>
              </a:extLst>
            </p:cNvPr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F08F0918-EF2B-01F2-0B31-F229849E3F3A}"/>
                </a:ext>
              </a:extLst>
            </p:cNvPr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6C63FF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4: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FD098D57-B0E0-261B-8081-6B7A03590132}"/>
                </a:ext>
              </a:extLst>
            </p:cNvPr>
            <p:cNvSpPr txBox="1"/>
            <p:nvPr/>
          </p:nvSpPr>
          <p:spPr>
            <a:xfrm>
              <a:off x="1041273" y="4291489"/>
              <a:ext cx="7525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How does Decorator avoid class explosion compared to static inheritance for N features?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D6D7A149-FEDB-3BBE-173A-AEE521A26350}"/>
                </a:ext>
              </a:extLst>
            </p:cNvPr>
            <p:cNvSpPr txBox="1"/>
            <p:nvPr/>
          </p:nvSpPr>
          <p:spPr>
            <a:xfrm>
              <a:off x="1232154" y="4775835"/>
              <a:ext cx="6705297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Inheritance needs 2^N subclasses, while Decorator composes features dynamically at runtime. 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082D0D96-C743-2E1B-8DF2-785ED58973D1}"/>
                </a:ext>
              </a:extLst>
            </p:cNvPr>
            <p:cNvSpPr txBox="1"/>
            <p:nvPr/>
          </p:nvSpPr>
          <p:spPr>
            <a:xfrm>
              <a:off x="1232154" y="5109210"/>
              <a:ext cx="7542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Static inheritance executes faster because decorators require template metaprogramming.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C7C3631A-149A-5AA8-EF0E-655729F58826}"/>
                </a:ext>
              </a:extLst>
            </p:cNvPr>
            <p:cNvSpPr txBox="1"/>
            <p:nvPr/>
          </p:nvSpPr>
          <p:spPr>
            <a:xfrm>
              <a:off x="1232154" y="5442585"/>
              <a:ext cx="6145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Decorator requires modifying existing source code of the base component.</a:t>
              </a:r>
            </a:p>
          </p:txBody>
        </p:sp>
      </p:grpSp>
      <p:sp>
        <p:nvSpPr>
          <p:cNvPr id="18" name="Rectangle 18">
            <a:extLst>
              <a:ext uri="{FF2B5EF4-FFF2-40B4-BE49-F238E27FC236}">
                <a16:creationId xmlns:a16="http://schemas.microsoft.com/office/drawing/2014/main" id="{C6C80ACA-5E51-5DF9-79BA-47D424493243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AF9837A2-DF49-F149-4A35-60F1D7347960}"/>
              </a:ext>
            </a:extLst>
          </p:cNvPr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9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34 / 39</a:t>
            </a:r>
          </a:p>
        </p:txBody>
      </p:sp>
    </p:spTree>
    <p:extLst>
      <p:ext uri="{BB962C8B-B14F-4D97-AF65-F5344CB8AC3E}">
        <p14:creationId xmlns:p14="http://schemas.microsoft.com/office/powerpoint/2010/main" val="14261560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8045838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Mini Quiz: Interface &amp; Combinatorics (Part 2/5)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 3: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1273" y="1814989"/>
              <a:ext cx="74287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Why must the Base Decorator class implement or inherit from the Component interface?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32154" y="2299335"/>
              <a:ext cx="60083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To allow decorators to inherit private state variables from components.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2154" y="2632710"/>
              <a:ext cx="76060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B) To guarantee interface conformance so clients treat wrapped objects transparently. 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154" y="2966085"/>
              <a:ext cx="58283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To prevent other subclasses from extending the Component interface.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Question 4: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273" y="4291489"/>
              <a:ext cx="7525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How does Decorator avoid class explosion compared to static inheritance for N features?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4775835"/>
              <a:ext cx="83137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A) Inheritance needs 2^N subclasses, while Decorator composes features dynamically at runtime. 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5109210"/>
              <a:ext cx="75428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B) Static inheritance executes faster because decorators require template metaprogramming.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5442585"/>
              <a:ext cx="614571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Decorator requires modifying existing source code of the base component.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34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F73CC7-82A2-D9B0-B8C2-BFC064865D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E08F5F1-C417-B32F-6203-DB56C999271A}"/>
              </a:ext>
            </a:extLst>
          </p:cNvPr>
          <p:cNvSpPr txBox="1"/>
          <p:nvPr/>
        </p:nvSpPr>
        <p:spPr>
          <a:xfrm>
            <a:off x="749808" y="426720"/>
            <a:ext cx="76072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Mini Quiz: Principles &amp; Trade-offs (Part 3/5)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E7765043-9CF9-FE79-15B1-B12F24A5A3F9}"/>
              </a:ext>
            </a:extLst>
          </p:cNvPr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FD86E3E6-88E8-CEAB-49BE-3B34D2791640}"/>
              </a:ext>
            </a:extLst>
          </p:cNvPr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8305888-4CAB-A909-54B7-0DDF8D511F80}"/>
                </a:ext>
              </a:extLst>
            </p:cNvPr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7BF8369A-419F-9C37-D543-352F7B041757}"/>
                </a:ext>
              </a:extLst>
            </p:cNvPr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5: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1A27DE58-4E32-9727-B763-C2DBBC8B7C13}"/>
                </a:ext>
              </a:extLst>
            </p:cNvPr>
            <p:cNvSpPr txBox="1"/>
            <p:nvPr/>
          </p:nvSpPr>
          <p:spPr>
            <a:xfrm>
              <a:off x="1041273" y="1814989"/>
              <a:ext cx="7850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Which Object-Oriented Design Principle is most directly promoted by the Decorator Pattern?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210C2043-6DDC-F607-899A-9758DDEF9481}"/>
                </a:ext>
              </a:extLst>
            </p:cNvPr>
            <p:cNvSpPr txBox="1"/>
            <p:nvPr/>
          </p:nvSpPr>
          <p:spPr>
            <a:xfrm>
              <a:off x="1232154" y="2299335"/>
              <a:ext cx="35307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Single Responsibility Principle (SRP) only.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03762406-D72B-A294-BD3C-6F500B1402B0}"/>
                </a:ext>
              </a:extLst>
            </p:cNvPr>
            <p:cNvSpPr txBox="1"/>
            <p:nvPr/>
          </p:nvSpPr>
          <p:spPr>
            <a:xfrm>
              <a:off x="1232154" y="2632710"/>
              <a:ext cx="544899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Open-Closed Principle (OCP) — open for extension, closed for modification. 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F8EDD304-228B-C110-94EF-27850E4D6A81}"/>
                </a:ext>
              </a:extLst>
            </p:cNvPr>
            <p:cNvSpPr txBox="1"/>
            <p:nvPr/>
          </p:nvSpPr>
          <p:spPr>
            <a:xfrm>
              <a:off x="1232154" y="2966085"/>
              <a:ext cx="3837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Liskov Substitution Principle (LSP) violation.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CB92866B-E423-382B-077A-3EBF408C695E}"/>
              </a:ext>
            </a:extLst>
          </p:cNvPr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B8D57CA9-0671-7F76-5FAD-CE51BCB9F6F1}"/>
                </a:ext>
              </a:extLst>
            </p:cNvPr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81D857D-C563-9889-1ED2-8F3B68CC7192}"/>
                </a:ext>
              </a:extLst>
            </p:cNvPr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6C63FF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6: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48993EC7-C46B-C5D6-1F05-6FEC8DF5B7EC}"/>
                </a:ext>
              </a:extLst>
            </p:cNvPr>
            <p:cNvSpPr txBox="1"/>
            <p:nvPr/>
          </p:nvSpPr>
          <p:spPr>
            <a:xfrm>
              <a:off x="1041273" y="4291489"/>
              <a:ext cx="6451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What is a primary downside or maintenance risk of heavily using Decorators?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8443DECE-7EAC-0B5B-DFAF-B0285FED2004}"/>
                </a:ext>
              </a:extLst>
            </p:cNvPr>
            <p:cNvSpPr txBox="1"/>
            <p:nvPr/>
          </p:nvSpPr>
          <p:spPr>
            <a:xfrm>
              <a:off x="1232154" y="4775835"/>
              <a:ext cx="6589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It breaks encapsulation by exposing private member variables of the component.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6AB90D43-C785-DA04-9F4C-607554439134}"/>
                </a:ext>
              </a:extLst>
            </p:cNvPr>
            <p:cNvSpPr txBox="1"/>
            <p:nvPr/>
          </p:nvSpPr>
          <p:spPr>
            <a:xfrm>
              <a:off x="1232154" y="5109210"/>
              <a:ext cx="6398739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It produces many small nested objects, increasing stack depth and debugging complexity. 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CD0BBAF-9049-F9F9-43AE-7933D70C5F5F}"/>
                </a:ext>
              </a:extLst>
            </p:cNvPr>
            <p:cNvSpPr txBox="1"/>
            <p:nvPr/>
          </p:nvSpPr>
          <p:spPr>
            <a:xfrm>
              <a:off x="1232154" y="5442585"/>
              <a:ext cx="5125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Decorators cannot be instantiated dynamically in modern C++.</a:t>
              </a:r>
            </a:p>
          </p:txBody>
        </p:sp>
      </p:grpSp>
      <p:sp>
        <p:nvSpPr>
          <p:cNvPr id="18" name="Rectangle 18">
            <a:extLst>
              <a:ext uri="{FF2B5EF4-FFF2-40B4-BE49-F238E27FC236}">
                <a16:creationId xmlns:a16="http://schemas.microsoft.com/office/drawing/2014/main" id="{E729BAC4-8254-8867-9BC4-5FADB64BD438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78186D16-270D-5DE2-01B0-88ABD5CE55AF}"/>
              </a:ext>
            </a:extLst>
          </p:cNvPr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9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35 / 39</a:t>
            </a:r>
          </a:p>
        </p:txBody>
      </p:sp>
    </p:spTree>
    <p:extLst>
      <p:ext uri="{BB962C8B-B14F-4D97-AF65-F5344CB8AC3E}">
        <p14:creationId xmlns:p14="http://schemas.microsoft.com/office/powerpoint/2010/main" val="40703527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7607205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Mini Quiz: Principles &amp; Trade-offs (Part 3/5)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 5: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1273" y="1814989"/>
              <a:ext cx="78502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Which Object-Oriented Design Principle is most directly promoted by the Decorator Pattern?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32154" y="2299335"/>
              <a:ext cx="353074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Single Responsibility Principle (SRP) only.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2154" y="2632710"/>
              <a:ext cx="67564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B) Open-Closed Principle (OCP) — open for extension, closed for modification. 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154" y="2966085"/>
              <a:ext cx="38379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Liskov Substitution Principle (LSP) violation.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Question 6: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273" y="4291489"/>
              <a:ext cx="645180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What is a primary downside or maintenance risk of heavily using Decorators?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4775835"/>
              <a:ext cx="65898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It breaks encapsulation by exposing private member variables of the component.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5109210"/>
              <a:ext cx="78520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B) It produces many small nested objects, increasing stack depth and debugging complexity. 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5442585"/>
              <a:ext cx="51258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Decorators cannot be instantiated dynamically in modern C++.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35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2E2C836-893C-F954-8C67-11C973627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5B92DE61-97E9-56DF-06C0-00021DEBDC9B}"/>
              </a:ext>
            </a:extLst>
          </p:cNvPr>
          <p:cNvSpPr txBox="1"/>
          <p:nvPr/>
        </p:nvSpPr>
        <p:spPr>
          <a:xfrm>
            <a:off x="749808" y="426720"/>
            <a:ext cx="839934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Mini Quiz: Implementation &amp; Real-World (Part 4/5)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5F16F172-B1C5-F4CB-C635-203362A11075}"/>
              </a:ext>
            </a:extLst>
          </p:cNvPr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4FC202D-9CAF-E1BA-D49D-3DEDAB81A9E5}"/>
              </a:ext>
            </a:extLst>
          </p:cNvPr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C430F567-68D3-17DC-4987-2DD56180708D}"/>
                </a:ext>
              </a:extLst>
            </p:cNvPr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1062C7-F6FE-5F91-20BE-A6266EC06DE8}"/>
                </a:ext>
              </a:extLst>
            </p:cNvPr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7: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FC84AC36-794E-CCAF-4052-8C7DC9769EC4}"/>
                </a:ext>
              </a:extLst>
            </p:cNvPr>
            <p:cNvSpPr txBox="1"/>
            <p:nvPr/>
          </p:nvSpPr>
          <p:spPr>
            <a:xfrm>
              <a:off x="1041273" y="1814989"/>
              <a:ext cx="7744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How do smart pointers (std::unique_ptr / std::shared_ptr) assist C++ Decorator designs?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B10036C6-46B4-C241-AB82-3F07E0B1043F}"/>
                </a:ext>
              </a:extLst>
            </p:cNvPr>
            <p:cNvSpPr txBox="1"/>
            <p:nvPr/>
          </p:nvSpPr>
          <p:spPr>
            <a:xfrm>
              <a:off x="1232154" y="2299335"/>
              <a:ext cx="6626686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They cleanly manage ownership of wrapped component instances, preventing memory leaks. 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6F6CDC1-3F8A-8B2C-1A7B-A5D2F6E92752}"/>
                </a:ext>
              </a:extLst>
            </p:cNvPr>
            <p:cNvSpPr txBox="1"/>
            <p:nvPr/>
          </p:nvSpPr>
          <p:spPr>
            <a:xfrm>
              <a:off x="1232154" y="2632710"/>
              <a:ext cx="6511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They automatically convert Decorator into a Strategy pattern at compile time.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5B25D1EC-B9F0-CF96-7B19-1B9F56AA8E54}"/>
                </a:ext>
              </a:extLst>
            </p:cNvPr>
            <p:cNvSpPr txBox="1"/>
            <p:nvPr/>
          </p:nvSpPr>
          <p:spPr>
            <a:xfrm>
              <a:off x="1232154" y="2966085"/>
              <a:ext cx="5378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They disable virtual table overhead for decorated function calls.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7F497721-3372-900B-B907-79E6E339C5D3}"/>
              </a:ext>
            </a:extLst>
          </p:cNvPr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C8FDC5A8-AF23-E409-8F01-48F1085A7810}"/>
                </a:ext>
              </a:extLst>
            </p:cNvPr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BE0CD3EF-850C-DC48-085B-D03CB6FC4F17}"/>
                </a:ext>
              </a:extLst>
            </p:cNvPr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6C63FF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8: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C1FB1B63-D19B-EE1A-8692-456C412152B0}"/>
                </a:ext>
              </a:extLst>
            </p:cNvPr>
            <p:cNvSpPr txBox="1"/>
            <p:nvPr/>
          </p:nvSpPr>
          <p:spPr>
            <a:xfrm>
              <a:off x="1041273" y="4291489"/>
              <a:ext cx="7071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In Java Standard I/O (java.io), which code snippet represents a classic Decorator?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5B8D2DA8-B191-B913-023F-16E321D5CAFA}"/>
                </a:ext>
              </a:extLst>
            </p:cNvPr>
            <p:cNvSpPr txBox="1"/>
            <p:nvPr/>
          </p:nvSpPr>
          <p:spPr>
            <a:xfrm>
              <a:off x="1232154" y="4775835"/>
              <a:ext cx="6467348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new BufferedReader(new FileReader("file.txt")) — BufferedReader adds buffering capability. 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292C92FF-33B5-5FF1-ECC1-0C32B87E6509}"/>
                </a:ext>
              </a:extLst>
            </p:cNvPr>
            <p:cNvSpPr txBox="1"/>
            <p:nvPr/>
          </p:nvSpPr>
          <p:spPr>
            <a:xfrm>
              <a:off x="1232154" y="5109210"/>
              <a:ext cx="3317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List&lt;String&gt; list = new ArrayList&lt;&gt;();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53EF9FA3-CBB1-7B34-B60C-6206511853CA}"/>
                </a:ext>
              </a:extLst>
            </p:cNvPr>
            <p:cNvSpPr txBox="1"/>
            <p:nvPr/>
          </p:nvSpPr>
          <p:spPr>
            <a:xfrm>
              <a:off x="1232154" y="5442585"/>
              <a:ext cx="3112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DatabaseConnection.getInstance();</a:t>
              </a:r>
            </a:p>
          </p:txBody>
        </p:sp>
      </p:grpSp>
      <p:sp>
        <p:nvSpPr>
          <p:cNvPr id="18" name="Rectangle 18">
            <a:extLst>
              <a:ext uri="{FF2B5EF4-FFF2-40B4-BE49-F238E27FC236}">
                <a16:creationId xmlns:a16="http://schemas.microsoft.com/office/drawing/2014/main" id="{2EA0F08C-6471-97B7-EE76-5A66815371CC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8CA28AEE-5F7D-0580-90F4-D74AB2CFAD5F}"/>
              </a:ext>
            </a:extLst>
          </p:cNvPr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9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36 / 39</a:t>
            </a:r>
          </a:p>
        </p:txBody>
      </p:sp>
    </p:spTree>
    <p:extLst>
      <p:ext uri="{BB962C8B-B14F-4D97-AF65-F5344CB8AC3E}">
        <p14:creationId xmlns:p14="http://schemas.microsoft.com/office/powerpoint/2010/main" val="1446922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8399346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Mini Quiz: Implementation &amp; Real-World (Part 4/5)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 7: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1273" y="1814989"/>
              <a:ext cx="77441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How do smart pointers (std::unique_ptr / std::shared_ptr) assist C++ Decorator designs?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32154" y="2299335"/>
              <a:ext cx="80303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A) They cleanly manage ownership of wrapped component instances, preventing memory leaks. ✓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2154" y="2632710"/>
              <a:ext cx="65119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B) They automatically convert Decorator into a Strategy pattern at compile time.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154" y="2966085"/>
              <a:ext cx="53780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They disable virtual table overhead for decorated function calls.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39338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Question 8: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273" y="4291489"/>
              <a:ext cx="707142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In Java Standard I/O (java.io), which code snippet represents a classic Decorator?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4775835"/>
              <a:ext cx="83419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A) new BufferedReader(new FileReader("file.txt")) — BufferedReader adds buffering capability. ✓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5109210"/>
              <a:ext cx="33177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B) List&lt;String&gt; list = new ArrayList&lt;&gt;();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5442585"/>
              <a:ext cx="31128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DatabaseConnection.getInstance();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36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0BD4DAC-DCB8-0F4D-B2FE-564A4B1264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>
            <a:extLst>
              <a:ext uri="{FF2B5EF4-FFF2-40B4-BE49-F238E27FC236}">
                <a16:creationId xmlns:a16="http://schemas.microsoft.com/office/drawing/2014/main" id="{D262074C-BFD4-49CB-8356-DC4A22B76953}"/>
              </a:ext>
            </a:extLst>
          </p:cNvPr>
          <p:cNvSpPr txBox="1"/>
          <p:nvPr/>
        </p:nvSpPr>
        <p:spPr>
          <a:xfrm>
            <a:off x="749808" y="426720"/>
            <a:ext cx="70467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E8E8F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Mini Quiz: Execution &amp; Identity (Part 5/5)</a:t>
            </a:r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1951F3CB-B1ED-3732-1DA3-085B9D4A5D87}"/>
              </a:ext>
            </a:extLst>
          </p:cNvPr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10" name="Group 10">
            <a:extLst>
              <a:ext uri="{FF2B5EF4-FFF2-40B4-BE49-F238E27FC236}">
                <a16:creationId xmlns:a16="http://schemas.microsoft.com/office/drawing/2014/main" id="{C6EFCA24-EF81-01C0-FD6A-4E2DA79CD4B5}"/>
              </a:ext>
            </a:extLst>
          </p:cNvPr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9F9A0973-C5BD-6E82-5C10-9DE9359FB1AC}"/>
                </a:ext>
              </a:extLst>
            </p:cNvPr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C6AA542-ED2F-C0BA-D7F1-B16985A39EB4}"/>
                </a:ext>
              </a:extLst>
            </p:cNvPr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00D4AA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9:</a:t>
              </a:r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CDB6C923-1C14-E273-0F45-79D4FA3B97A7}"/>
                </a:ext>
              </a:extLst>
            </p:cNvPr>
            <p:cNvSpPr txBox="1"/>
            <p:nvPr/>
          </p:nvSpPr>
          <p:spPr>
            <a:xfrm>
              <a:off x="1041273" y="1814989"/>
              <a:ext cx="8817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When wrapping an object with multiple Decorators (e.g. Encryption &amp; Compression), does order matter?</a:t>
              </a:r>
            </a:p>
          </p:txBody>
        </p:sp>
        <p:sp>
          <p:nvSpPr>
            <p:cNvPr id="7" name="TextBox 7">
              <a:extLst>
                <a:ext uri="{FF2B5EF4-FFF2-40B4-BE49-F238E27FC236}">
                  <a16:creationId xmlns:a16="http://schemas.microsoft.com/office/drawing/2014/main" id="{07BCAA47-2FA5-28F3-EC04-45069159E3A2}"/>
                </a:ext>
              </a:extLst>
            </p:cNvPr>
            <p:cNvSpPr txBox="1"/>
            <p:nvPr/>
          </p:nvSpPr>
          <p:spPr>
            <a:xfrm>
              <a:off x="1232154" y="2299335"/>
              <a:ext cx="5564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No, decorators are order-independent and execute simultaneously.</a:t>
              </a:r>
            </a:p>
          </p:txBody>
        </p: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6EB8843E-9E47-8D43-776A-EA4B49391334}"/>
                </a:ext>
              </a:extLst>
            </p:cNvPr>
            <p:cNvSpPr txBox="1"/>
            <p:nvPr/>
          </p:nvSpPr>
          <p:spPr>
            <a:xfrm>
              <a:off x="1232154" y="2632710"/>
              <a:ext cx="6465681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Yes, order matters because each layer delegates sequentially (e.g. Encrypt-then-Compress). </a:t>
              </a:r>
            </a:p>
          </p:txBody>
        </p:sp>
        <p:sp>
          <p:nvSpPr>
            <p:cNvPr id="9" name="TextBox 9">
              <a:extLst>
                <a:ext uri="{FF2B5EF4-FFF2-40B4-BE49-F238E27FC236}">
                  <a16:creationId xmlns:a16="http://schemas.microsoft.com/office/drawing/2014/main" id="{8EF0AF36-BE8A-7F50-336D-C01064194994}"/>
                </a:ext>
              </a:extLst>
            </p:cNvPr>
            <p:cNvSpPr txBox="1"/>
            <p:nvPr/>
          </p:nvSpPr>
          <p:spPr>
            <a:xfrm>
              <a:off x="1232154" y="2966085"/>
              <a:ext cx="4934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Order only matters if decorators use multiple inheritance.</a:t>
              </a:r>
            </a:p>
          </p:txBody>
        </p:sp>
      </p:grpSp>
      <p:grpSp>
        <p:nvGrpSpPr>
          <p:cNvPr id="17" name="Group 17">
            <a:extLst>
              <a:ext uri="{FF2B5EF4-FFF2-40B4-BE49-F238E27FC236}">
                <a16:creationId xmlns:a16="http://schemas.microsoft.com/office/drawing/2014/main" id="{D359F4A8-FA03-9F7D-057A-62D8066B9BAC}"/>
              </a:ext>
            </a:extLst>
          </p:cNvPr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>
              <a:extLst>
                <a:ext uri="{FF2B5EF4-FFF2-40B4-BE49-F238E27FC236}">
                  <a16:creationId xmlns:a16="http://schemas.microsoft.com/office/drawing/2014/main" id="{29F8ADFA-98F5-93A4-72B6-AF3E660A1275}"/>
                </a:ext>
              </a:extLst>
            </p:cNvPr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2" name="TextBox 12">
              <a:extLst>
                <a:ext uri="{FF2B5EF4-FFF2-40B4-BE49-F238E27FC236}">
                  <a16:creationId xmlns:a16="http://schemas.microsoft.com/office/drawing/2014/main" id="{04D4038E-17C3-5B2D-537D-161D13857A11}"/>
                </a:ext>
              </a:extLst>
            </p:cNvPr>
            <p:cNvSpPr txBox="1"/>
            <p:nvPr/>
          </p:nvSpPr>
          <p:spPr>
            <a:xfrm>
              <a:off x="1040130" y="3933825"/>
              <a:ext cx="1360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500" b="1" i="0" u="none" strike="noStrike" kern="1200" cap="none" spc="0" normalizeH="0" baseline="0" noProof="0" dirty="0">
                  <a:ln>
                    <a:noFill/>
                  </a:ln>
                  <a:solidFill>
                    <a:srgbClr val="6C63FF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Question 10:</a:t>
              </a:r>
            </a:p>
          </p:txBody>
        </p:sp>
        <p:sp>
          <p:nvSpPr>
            <p:cNvPr id="13" name="TextBox 13">
              <a:extLst>
                <a:ext uri="{FF2B5EF4-FFF2-40B4-BE49-F238E27FC236}">
                  <a16:creationId xmlns:a16="http://schemas.microsoft.com/office/drawing/2014/main" id="{E65FA0A0-2767-A757-6515-3272D977A37F}"/>
                </a:ext>
              </a:extLst>
            </p:cNvPr>
            <p:cNvSpPr txBox="1"/>
            <p:nvPr/>
          </p:nvSpPr>
          <p:spPr>
            <a:xfrm>
              <a:off x="1041273" y="4291489"/>
              <a:ext cx="7745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80" b="0" i="0" u="none" strike="noStrike" kern="1200" cap="none" spc="0" normalizeH="0" baseline="0" noProof="0" dirty="0">
                  <a:ln>
                    <a:noFill/>
                  </a:ln>
                  <a:solidFill>
                    <a:srgbClr val="E8E8F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What happens to object identity (e.g. pointer comparison `this == wrapped`) in Decorator?</a:t>
              </a:r>
            </a:p>
          </p:txBody>
        </p:sp>
        <p:sp>
          <p:nvSpPr>
            <p:cNvPr id="14" name="TextBox 14">
              <a:extLst>
                <a:ext uri="{FF2B5EF4-FFF2-40B4-BE49-F238E27FC236}">
                  <a16:creationId xmlns:a16="http://schemas.microsoft.com/office/drawing/2014/main" id="{EE593A87-889E-D561-1132-9DF730DE906D}"/>
                </a:ext>
              </a:extLst>
            </p:cNvPr>
            <p:cNvSpPr txBox="1"/>
            <p:nvPr/>
          </p:nvSpPr>
          <p:spPr>
            <a:xfrm>
              <a:off x="1232154" y="4775835"/>
              <a:ext cx="6475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A) The Decorator shares the exact same memory address as the inner component.</a:t>
              </a:r>
            </a:p>
          </p:txBody>
        </p:sp>
        <p:sp>
          <p:nvSpPr>
            <p:cNvPr id="15" name="TextBox 15">
              <a:extLst>
                <a:ext uri="{FF2B5EF4-FFF2-40B4-BE49-F238E27FC236}">
                  <a16:creationId xmlns:a16="http://schemas.microsoft.com/office/drawing/2014/main" id="{F924CBBD-97E4-47C5-5276-26453908DA11}"/>
                </a:ext>
              </a:extLst>
            </p:cNvPr>
            <p:cNvSpPr txBox="1"/>
            <p:nvPr/>
          </p:nvSpPr>
          <p:spPr>
            <a:xfrm>
              <a:off x="1232154" y="5109210"/>
              <a:ext cx="5931432" cy="1846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i="0" u="none" strike="noStrike" kern="1200" cap="none" spc="0" normalizeH="0" baseline="0" noProof="0" dirty="0">
                  <a:ln>
                    <a:noFill/>
                  </a:ln>
                  <a:solidFill>
                    <a:schemeClr val="bg1">
                      <a:lumMod val="75000"/>
                    </a:schemeClr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B) The Decorator has a distinct identity; code relying on pointer identity (==) may fail. </a:t>
              </a:r>
            </a:p>
          </p:txBody>
        </p:sp>
        <p:sp>
          <p:nvSpPr>
            <p:cNvPr id="16" name="TextBox 16">
              <a:extLst>
                <a:ext uri="{FF2B5EF4-FFF2-40B4-BE49-F238E27FC236}">
                  <a16:creationId xmlns:a16="http://schemas.microsoft.com/office/drawing/2014/main" id="{2628A8A9-A4EE-2FC2-66F9-F2AD9B78C5F5}"/>
                </a:ext>
              </a:extLst>
            </p:cNvPr>
            <p:cNvSpPr txBox="1"/>
            <p:nvPr/>
          </p:nvSpPr>
          <p:spPr>
            <a:xfrm>
              <a:off x="1232154" y="5442585"/>
              <a:ext cx="6185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C0C0D0"/>
                  </a:solidFill>
                  <a:effectLst/>
                  <a:uLnTx/>
                  <a:uFillTx/>
                  <a:latin typeface="Segoe UI"/>
                  <a:ea typeface="Segoe UI"/>
                  <a:cs typeface="Segoe UI"/>
                </a:rPr>
                <a:t>C) Compilers automatically adjust pointer comparisons for decorated objects.</a:t>
              </a:r>
            </a:p>
          </p:txBody>
        </p:sp>
      </p:grpSp>
      <p:sp>
        <p:nvSpPr>
          <p:cNvPr id="18" name="Rectangle 18">
            <a:extLst>
              <a:ext uri="{FF2B5EF4-FFF2-40B4-BE49-F238E27FC236}">
                <a16:creationId xmlns:a16="http://schemas.microsoft.com/office/drawing/2014/main" id="{CC12182B-621B-E5F5-1211-3E5664562976}"/>
              </a:ext>
            </a:extLst>
          </p:cNvPr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9">
            <a:extLst>
              <a:ext uri="{FF2B5EF4-FFF2-40B4-BE49-F238E27FC236}">
                <a16:creationId xmlns:a16="http://schemas.microsoft.com/office/drawing/2014/main" id="{5AB127A4-07F1-2760-9D9D-0CCF9533DE10}"/>
              </a:ext>
            </a:extLst>
          </p:cNvPr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808090"/>
                </a:solidFill>
                <a:effectLst/>
                <a:uLnTx/>
                <a:uFillTx/>
                <a:latin typeface="Segoe UI"/>
                <a:ea typeface="Segoe UI"/>
                <a:cs typeface="Segoe UI"/>
              </a:rPr>
              <a:t>37 / 39</a:t>
            </a:r>
          </a:p>
        </p:txBody>
      </p:sp>
    </p:spTree>
    <p:extLst>
      <p:ext uri="{BB962C8B-B14F-4D97-AF65-F5344CB8AC3E}">
        <p14:creationId xmlns:p14="http://schemas.microsoft.com/office/powerpoint/2010/main" val="3272876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7046724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Mini Quiz: Execution &amp; Identity (Part 5/5)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762000" y="1238250"/>
            <a:ext cx="10668000" cy="2286000"/>
            <a:chOff x="762000" y="1238250"/>
            <a:chExt cx="10668000" cy="2286000"/>
          </a:xfrm>
        </p:grpSpPr>
        <p:sp>
          <p:nvSpPr>
            <p:cNvPr id="4" name="Rectangle 4"/>
            <p:cNvSpPr/>
            <p:nvPr/>
          </p:nvSpPr>
          <p:spPr>
            <a:xfrm>
              <a:off x="762000" y="12382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040130" y="1457325"/>
              <a:ext cx="124301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 9: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41273" y="1814989"/>
              <a:ext cx="881717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When wrapping an object with multiple Decorators (e.g. Encryption &amp; Compression), does order matter?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32154" y="2299335"/>
              <a:ext cx="556435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No, decorators are order-independent and execute simultaneously.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232154" y="2632710"/>
              <a:ext cx="83660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B) Yes, order matters because each layer delegates sequentially (e.g. Encrypt-then-Compress). 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232154" y="2966085"/>
              <a:ext cx="49340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Order only matters if decorators use multiple inheritance.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3714750"/>
            <a:ext cx="10668000" cy="2286000"/>
            <a:chOff x="762000" y="3714750"/>
            <a:chExt cx="10668000" cy="2286000"/>
          </a:xfrm>
        </p:grpSpPr>
        <p:sp>
          <p:nvSpPr>
            <p:cNvPr id="11" name="Rectangle 11"/>
            <p:cNvSpPr/>
            <p:nvPr/>
          </p:nvSpPr>
          <p:spPr>
            <a:xfrm>
              <a:off x="762000" y="3714750"/>
              <a:ext cx="10668000" cy="2286000"/>
            </a:xfrm>
            <a:prstGeom prst="roundRect">
              <a:avLst>
                <a:gd name="adj" fmla="val 333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130" y="3933825"/>
              <a:ext cx="136045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b="1" dirty="0">
                  <a:solidFill>
                    <a:srgbClr val="6C63FF"/>
                  </a:solidFill>
                  <a:latin typeface="Segoe UI"/>
                  <a:ea typeface="Segoe UI"/>
                  <a:cs typeface="Segoe UI"/>
                </a:rPr>
                <a:t>Question 10: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273" y="4291489"/>
              <a:ext cx="774545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What happens to object identity (e.g. pointer comparison `this == wrapped`) in Decorator?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32154" y="4775835"/>
              <a:ext cx="6475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A) The Decorator shares the exact same memory address as the inner component.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232154" y="5109210"/>
              <a:ext cx="75281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b="1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B) The Decorator has a distinct identity; code relying on pointer identity (==) may fail. ✓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232154" y="5442585"/>
              <a:ext cx="61856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C) Compilers automatically adjust pointer comparisons for decorated objects.</a:t>
              </a:r>
            </a:p>
          </p:txBody>
        </p:sp>
      </p:grpSp>
      <p:sp>
        <p:nvSpPr>
          <p:cNvPr id="18" name="Rectangle 18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Box 19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37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49808" y="426720"/>
            <a:ext cx="4302813" cy="469392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2400" b="1" dirty="0">
                <a:solidFill>
                  <a:srgbClr val="E8E8F0"/>
                </a:solidFill>
                <a:latin typeface="Segoe UI"/>
                <a:ea typeface="Segoe UI"/>
                <a:cs typeface="Segoe UI"/>
              </a:rPr>
              <a:t>Summary &amp; Key Takeaways</a:t>
            </a:r>
          </a:p>
        </p:txBody>
      </p:sp>
      <p:sp>
        <p:nvSpPr>
          <p:cNvPr id="3" name="Rectangle 3"/>
          <p:cNvSpPr/>
          <p:nvPr/>
        </p:nvSpPr>
        <p:spPr>
          <a:xfrm>
            <a:off x="762000" y="838200"/>
            <a:ext cx="476250" cy="28575"/>
          </a:xfrm>
          <a:prstGeom prst="roundRect">
            <a:avLst>
              <a:gd name="adj" fmla="val 33333"/>
            </a:avLst>
          </a:prstGeom>
          <a:solidFill>
            <a:srgbClr val="6C63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25" name="Group 25"/>
          <p:cNvGrpSpPr/>
          <p:nvPr/>
        </p:nvGrpSpPr>
        <p:grpSpPr>
          <a:xfrm>
            <a:off x="762000" y="1333500"/>
            <a:ext cx="10668000" cy="4572000"/>
            <a:chOff x="762000" y="1333500"/>
            <a:chExt cx="10668000" cy="4572000"/>
          </a:xfrm>
        </p:grpSpPr>
        <p:sp>
          <p:nvSpPr>
            <p:cNvPr id="4" name="Rectangle 4"/>
            <p:cNvSpPr/>
            <p:nvPr/>
          </p:nvSpPr>
          <p:spPr>
            <a:xfrm>
              <a:off x="762000" y="1333500"/>
              <a:ext cx="10668000" cy="4572000"/>
            </a:xfrm>
            <a:prstGeom prst="roundRect">
              <a:avLst>
                <a:gd name="adj" fmla="val 2083"/>
              </a:avLst>
            </a:prstGeom>
            <a:solidFill>
              <a:srgbClr val="252640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grpSp>
          <p:nvGrpSpPr>
            <p:cNvPr id="9" name="Group 9"/>
            <p:cNvGrpSpPr/>
            <p:nvPr/>
          </p:nvGrpSpPr>
          <p:grpSpPr>
            <a:xfrm>
              <a:off x="1276350" y="1752600"/>
              <a:ext cx="8154216" cy="638556"/>
              <a:chOff x="1276350" y="1752600"/>
              <a:chExt cx="8154216" cy="638556"/>
            </a:xfrm>
          </p:grpSpPr>
          <p:sp>
            <p:nvSpPr>
              <p:cNvPr id="5" name="Ellipse 5"/>
              <p:cNvSpPr/>
              <p:nvPr/>
            </p:nvSpPr>
            <p:spPr>
              <a:xfrm>
                <a:off x="1276350" y="1752600"/>
                <a:ext cx="304800" cy="304800"/>
              </a:xfrm>
              <a:prstGeom prst="ellipse">
                <a:avLst/>
              </a:prstGeom>
              <a:solidFill>
                <a:srgbClr val="6C63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" name="TextBox 6"/>
              <p:cNvSpPr txBox="1"/>
              <p:nvPr/>
            </p:nvSpPr>
            <p:spPr>
              <a:xfrm>
                <a:off x="1376008" y="18326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754505" y="1800225"/>
                <a:ext cx="301783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Composition over Inheritance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756029" y="2156460"/>
                <a:ext cx="767453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Decorator uses object composition to attach responsibilities at runtime without class explosion.</a:t>
                </a:r>
              </a:p>
            </p:txBody>
          </p:sp>
        </p:grpSp>
        <p:grpSp>
          <p:nvGrpSpPr>
            <p:cNvPr id="14" name="Group 14"/>
            <p:cNvGrpSpPr/>
            <p:nvPr/>
          </p:nvGrpSpPr>
          <p:grpSpPr>
            <a:xfrm>
              <a:off x="1276350" y="2800350"/>
              <a:ext cx="8283801" cy="638556"/>
              <a:chOff x="1276350" y="2800350"/>
              <a:chExt cx="8283801" cy="638556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1276350" y="2800350"/>
                <a:ext cx="304800" cy="304800"/>
              </a:xfrm>
              <a:prstGeom prst="ellipse">
                <a:avLst/>
              </a:prstGeom>
              <a:solidFill>
                <a:srgbClr val="6C63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376008" y="28803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2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1754505" y="2847975"/>
                <a:ext cx="229744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Transparent Wrapping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1756029" y="3204210"/>
                <a:ext cx="780412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Decorators conform to the same interface as wrapped components, enabling transparent nesting.</a:t>
                </a:r>
              </a:p>
            </p:txBody>
          </p:sp>
        </p:grpSp>
        <p:grpSp>
          <p:nvGrpSpPr>
            <p:cNvPr id="19" name="Group 19"/>
            <p:cNvGrpSpPr/>
            <p:nvPr/>
          </p:nvGrpSpPr>
          <p:grpSpPr>
            <a:xfrm>
              <a:off x="1276350" y="3848100"/>
              <a:ext cx="6991191" cy="638556"/>
              <a:chOff x="1276350" y="3848100"/>
              <a:chExt cx="6991191" cy="638556"/>
            </a:xfrm>
          </p:grpSpPr>
          <p:sp>
            <p:nvSpPr>
              <p:cNvPr id="15" name="Ellipse 15"/>
              <p:cNvSpPr/>
              <p:nvPr/>
            </p:nvSpPr>
            <p:spPr>
              <a:xfrm>
                <a:off x="1276350" y="3848100"/>
                <a:ext cx="304800" cy="304800"/>
              </a:xfrm>
              <a:prstGeom prst="ellipse">
                <a:avLst/>
              </a:prstGeom>
              <a:solidFill>
                <a:srgbClr val="6C63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76008" y="392811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754505" y="3895725"/>
                <a:ext cx="297561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Open-Closed Principle (OCP)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1756029" y="4251960"/>
                <a:ext cx="6511512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Extend functionality by adding new decorators without editing existing core code.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276350" y="4895850"/>
              <a:ext cx="8722990" cy="638556"/>
              <a:chOff x="1276350" y="4895850"/>
              <a:chExt cx="8722990" cy="638556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1276350" y="4895850"/>
                <a:ext cx="304800" cy="304800"/>
              </a:xfrm>
              <a:prstGeom prst="ellipse">
                <a:avLst/>
              </a:prstGeom>
              <a:solidFill>
                <a:srgbClr val="6C63FF"/>
              </a:solidFill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76008" y="4975860"/>
                <a:ext cx="105484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200" b="1" dirty="0">
                    <a:solidFill>
                      <a:srgbClr val="E8E8F0"/>
                    </a:solidFill>
                    <a:latin typeface="Segoe UI"/>
                    <a:ea typeface="Segoe UI"/>
                    <a:cs typeface="Segoe UI"/>
                  </a:rPr>
                  <a:t>4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754505" y="4943475"/>
                <a:ext cx="1904951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500" b="1" dirty="0">
                    <a:solidFill>
                      <a:srgbClr val="00D4AA"/>
                    </a:solidFill>
                    <a:latin typeface="Segoe UI"/>
                    <a:ea typeface="Segoe UI"/>
                    <a:cs typeface="Segoe UI"/>
                  </a:rPr>
                  <a:t>Pattern Synergies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756029" y="5299710"/>
                <a:ext cx="824331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200" dirty="0">
                    <a:solidFill>
                      <a:srgbClr val="C0C0D0"/>
                    </a:solidFill>
                    <a:latin typeface="Segoe UI"/>
                    <a:ea typeface="Segoe UI"/>
                    <a:cs typeface="Segoe UI"/>
                  </a:rPr>
                  <a:t>Decorator works seamlessly with Strategy (swapping algorithms) and Facade (simplifying subsystems).</a:t>
                </a:r>
              </a:p>
            </p:txBody>
          </p:sp>
        </p:grpSp>
      </p:grpSp>
      <p:sp>
        <p:nvSpPr>
          <p:cNvPr id="26" name="Rectangle 26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Box 27"/>
          <p:cNvSpPr txBox="1"/>
          <p:nvPr/>
        </p:nvSpPr>
        <p:spPr>
          <a:xfrm>
            <a:off x="10951140" y="6649402"/>
            <a:ext cx="48419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38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>
            <a:alphaModFix amt="30000"/>
          </a:blip>
          <a:stretch>
            <a:fillRect/>
          </a:stretch>
        </p:blipFill>
        <p:spPr>
          <a:xfrm>
            <a:off x="0" y="26581"/>
            <a:ext cx="12192000" cy="6804837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A1B2E">
                  <a:alpha val="50000"/>
                </a:srgbClr>
              </a:gs>
              <a:gs pos="100000">
                <a:srgbClr val="1A1B2E">
                  <a:alpha val="9500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0" name="Group 10"/>
          <p:cNvGrpSpPr/>
          <p:nvPr/>
        </p:nvGrpSpPr>
        <p:grpSpPr>
          <a:xfrm>
            <a:off x="2286000" y="1714500"/>
            <a:ext cx="7620000" cy="3429000"/>
            <a:chOff x="2286000" y="1714500"/>
            <a:chExt cx="7620000" cy="3429000"/>
          </a:xfrm>
        </p:grpSpPr>
        <p:sp>
          <p:nvSpPr>
            <p:cNvPr id="4" name="Rectangle 4"/>
            <p:cNvSpPr/>
            <p:nvPr/>
          </p:nvSpPr>
          <p:spPr>
            <a:xfrm>
              <a:off x="2286000" y="1714500"/>
              <a:ext cx="7620000" cy="3429000"/>
            </a:xfrm>
            <a:prstGeom prst="roundRect">
              <a:avLst>
                <a:gd name="adj" fmla="val 4444"/>
              </a:avLst>
            </a:prstGeom>
            <a:solidFill>
              <a:srgbClr val="252640">
                <a:alpha val="90000"/>
              </a:srgbClr>
            </a:solidFill>
            <a:ln w="14288">
              <a:solidFill>
                <a:srgbClr val="6C63FF">
                  <a:alpha val="90000"/>
                </a:srgbClr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4571762" y="2308860"/>
              <a:ext cx="3048476" cy="819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4200" b="1" dirty="0">
                  <a:solidFill>
                    <a:srgbClr val="E8E8F0"/>
                  </a:solidFill>
                  <a:latin typeface="Segoe UI"/>
                  <a:ea typeface="Segoe UI"/>
                  <a:cs typeface="Segoe UI"/>
                </a:rPr>
                <a:t>Thank You!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5524500" y="3048000"/>
              <a:ext cx="1143000" cy="38100"/>
            </a:xfrm>
            <a:prstGeom prst="roundRect">
              <a:avLst>
                <a:gd name="adj" fmla="val 50000"/>
              </a:avLst>
            </a:prstGeom>
            <a:solidFill>
              <a:srgbClr val="00D4AA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740083" y="3520440"/>
              <a:ext cx="27118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rgbClr val="00D4AA"/>
                  </a:solidFill>
                  <a:latin typeface="Segoe UI"/>
                  <a:ea typeface="Segoe UI"/>
                  <a:cs typeface="Segoe UI"/>
                </a:rPr>
                <a:t>Questions &amp; Discussion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3418260" y="4045268"/>
              <a:ext cx="535548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rgbClr val="C0C0D0"/>
                  </a:solidFill>
                  <a:latin typeface="Segoe UI"/>
                  <a:ea typeface="Segoe UI"/>
                  <a:cs typeface="Segoe UI"/>
                </a:rPr>
                <a:t>CS202 Seminar · Object-Oriented Software Design Patterns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4008732" y="4450556"/>
              <a:ext cx="417453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120" dirty="0">
                  <a:solidFill>
                    <a:srgbClr val="808090"/>
                  </a:solidFill>
                  <a:latin typeface="Segoe UI"/>
                  <a:ea typeface="Segoe UI"/>
                  <a:cs typeface="Segoe UI"/>
                </a:rPr>
                <a:t>Decorator Pattern · Strategy Pattern · Facade Pattern</a:t>
              </a:r>
            </a:p>
          </p:txBody>
        </p:sp>
      </p:grpSp>
      <p:sp>
        <p:nvSpPr>
          <p:cNvPr id="11" name="Rectangle 11"/>
          <p:cNvSpPr/>
          <p:nvPr/>
        </p:nvSpPr>
        <p:spPr>
          <a:xfrm>
            <a:off x="0" y="6572250"/>
            <a:ext cx="12192000" cy="285750"/>
          </a:xfrm>
          <a:prstGeom prst="rect">
            <a:avLst/>
          </a:prstGeom>
          <a:solidFill>
            <a:srgbClr val="25264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4766143" y="6649402"/>
            <a:ext cx="2659714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050" dirty="0">
                <a:solidFill>
                  <a:srgbClr val="808090"/>
                </a:solidFill>
                <a:latin typeface="Segoe UI"/>
                <a:ea typeface="Segoe UI"/>
                <a:cs typeface="Segoe UI"/>
              </a:rPr>
              <a:t>CS202 Presentation Complete · 39 / 39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decorator_seminar_quick">
  <a:themeElements>
    <a:clrScheme name="decorator_seminar_qui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corator_seminar_quick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corator_seminar_qui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4311</Words>
  <Application>Microsoft Office PowerPoint</Application>
  <PresentationFormat>Widescreen</PresentationFormat>
  <Paragraphs>858</Paragraphs>
  <Slides>44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9" baseType="lpstr">
      <vt:lpstr>Arial</vt:lpstr>
      <vt:lpstr>Calibri</vt:lpstr>
      <vt:lpstr>Consolas</vt:lpstr>
      <vt:lpstr>Segoe UI</vt:lpstr>
      <vt:lpstr>decorator_seminar_quick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TỪ HOÀNG ANH</cp:lastModifiedBy>
  <cp:revision>2</cp:revision>
  <dcterms:created xsi:type="dcterms:W3CDTF">2026-08-29T12:24:26Z</dcterms:created>
  <dcterms:modified xsi:type="dcterms:W3CDTF">2026-08-29T12:42:04Z</dcterms:modified>
  <cp:category/>
  <cp:contentStatus/>
  <dc:language/>
</cp:coreProperties>
</file>
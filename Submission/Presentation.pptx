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corator_seminar_qui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corator_seminar_qui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c17d01055b031f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3cf66571573fda1.png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7c6616ab99aa11e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bffba82dfe05b07.png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d734ffc7526f86e.png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999f904cb13cc04.png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caed86065b656cd.png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88159b05619c942.png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c17d01055b031f.pn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A1B2E">
                  <a:alpha val="30000"/>
                </a:srgbClr>
              </a:gs>
              <a:gs pos="50000">
                <a:srgbClr val="1A1B2E">
                  <a:alpha val="60000"/>
                </a:srgbClr>
              </a:gs>
              <a:gs pos="100000">
                <a:srgbClr val="1A1B2E">
                  <a:alpha val="9000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52500" y="2952750"/>
            <a:ext cx="762000" cy="38100"/>
          </a:xfrm>
          <a:prstGeom prst="roundRect">
            <a:avLst>
              <a:gd name="adj" fmla="val 50000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33450" y="3103245"/>
            <a:ext cx="695437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9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Decorator Design Pattern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41832" y="3773805"/>
            <a:ext cx="6488497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00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CS202 — Object-Oriented Programming Seminar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5642" y="4426268"/>
            <a:ext cx="479670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Design Patterns: Structural · Behavioral · Creational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947166" y="6649402"/>
            <a:ext cx="296154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CS202 Seminar · Software Design Patterns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8284" y="470535"/>
            <a:ext cx="1298751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7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914400"/>
            <a:ext cx="57150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755142" y="1330642"/>
            <a:ext cx="3112481" cy="2169033"/>
            <a:chOff x="755142" y="1330642"/>
            <a:chExt cx="3112481" cy="2169033"/>
          </a:xfrm>
        </p:grpSpPr>
        <p:sp>
          <p:nvSpPr>
            <p:cNvPr id="4" name="TextBox 4"/>
            <p:cNvSpPr txBox="1"/>
            <p:nvPr/>
          </p:nvSpPr>
          <p:spPr>
            <a:xfrm>
              <a:off x="755142" y="1330642"/>
              <a:ext cx="19806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01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Real-world Problem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142" y="1711642"/>
              <a:ext cx="1606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02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Naive Solutions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142" y="2092642"/>
              <a:ext cx="3094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03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Problems with Naive Approaches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5142" y="2473642"/>
              <a:ext cx="31124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04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Decorator Pattern Introduction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5142" y="2854642"/>
              <a:ext cx="18993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05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UML Class Diagram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5142" y="3235642"/>
              <a:ext cx="19814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06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C++ Implementation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279642" y="1330642"/>
            <a:ext cx="2753069" cy="2169033"/>
            <a:chOff x="6279642" y="1330642"/>
            <a:chExt cx="2753069" cy="2169033"/>
          </a:xfrm>
        </p:grpSpPr>
        <p:sp>
          <p:nvSpPr>
            <p:cNvPr id="11" name="TextBox 11"/>
            <p:cNvSpPr txBox="1"/>
            <p:nvPr/>
          </p:nvSpPr>
          <p:spPr>
            <a:xfrm>
              <a:off x="6279642" y="1330642"/>
              <a:ext cx="24422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07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Execution Flow &amp; Output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79642" y="1711642"/>
              <a:ext cx="27530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08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Advantages &amp; Disadvantages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279642" y="2092642"/>
              <a:ext cx="1844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09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Strategy Pattern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9642" y="2473642"/>
              <a:ext cx="1644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10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Facade Pattern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9642" y="2854642"/>
              <a:ext cx="23522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11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Real-world Applications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3235642"/>
              <a:ext cx="10806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12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Mini Quiz</a:t>
              </a:r>
            </a:p>
          </p:txBody>
        </p:sp>
      </p:grpSp>
      <p:sp>
        <p:nvSpPr>
          <p:cNvPr id="18" name="Line 18"/>
          <p:cNvSpPr/>
          <p:nvPr/>
        </p:nvSpPr>
        <p:spPr>
          <a:xfrm>
            <a:off x="762000" y="6477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252640"/>
            </a:solidFill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20166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Real-world Problem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754380" y="1171575"/>
            <a:ext cx="4115860" cy="3690176"/>
            <a:chOff x="754380" y="1171575"/>
            <a:chExt cx="4115860" cy="3690176"/>
          </a:xfrm>
        </p:grpSpPr>
        <p:sp>
          <p:nvSpPr>
            <p:cNvPr id="4" name="TextBox 4"/>
            <p:cNvSpPr txBox="1"/>
            <p:nvPr/>
          </p:nvSpPr>
          <p:spPr>
            <a:xfrm>
              <a:off x="754380" y="1171575"/>
              <a:ext cx="27691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Coffee Shop Order System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142" y="1568768"/>
              <a:ext cx="40343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You own a coffee shop. Your system needs to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142" y="1816418"/>
              <a:ext cx="38211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handle beverages with various condiments: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5642" y="2235518"/>
              <a:ext cx="3924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 Roast, House Blend, Espresso, Decaf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5642" y="2521268"/>
              <a:ext cx="31199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Milk, Mocha, Soy, Whipped Cream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5142" y="2997518"/>
              <a:ext cx="36905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Each combination changes the description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5142" y="3245168"/>
              <a:ext cx="28942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and the total cost of the order.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4380" y="3743325"/>
              <a:ext cx="1502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The Challenge: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5142" y="4102418"/>
              <a:ext cx="35909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How do you design a flexible system that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4350068"/>
              <a:ext cx="38120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supports unlimited condiment combinations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5142" y="45977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without modifying existing code?</a:t>
              </a:r>
            </a:p>
          </p:txBody>
        </p:sp>
      </p:grpSp>
      <p:pic>
        <p:nvPicPr>
          <p:cNvPr id="16" name="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0" y="1047750"/>
            <a:ext cx="3556000" cy="4762500"/>
          </a:xfrm>
          <a:prstGeom prst="rect">
            <a:avLst/>
          </a:prstGeom>
        </p:spPr>
      </p:pic>
      <p:sp>
        <p:nvSpPr>
          <p:cNvPr id="17" name="Rectangle 17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79030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Naive Solution 1: Inheritance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5142" y="1092518"/>
            <a:ext cx="445407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Create a subclass for every possible combination: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4572000" y="1524000"/>
            <a:ext cx="3048000" cy="457200"/>
            <a:chOff x="4572000" y="1524000"/>
            <a:chExt cx="3048000" cy="457200"/>
          </a:xfrm>
        </p:grpSpPr>
        <p:sp>
          <p:nvSpPr>
            <p:cNvPr id="5" name="Rectangle 5"/>
            <p:cNvSpPr/>
            <p:nvPr/>
          </p:nvSpPr>
          <p:spPr>
            <a:xfrm>
              <a:off x="4572000" y="1524000"/>
              <a:ext cx="3048000" cy="457200"/>
            </a:xfrm>
            <a:prstGeom prst="roundRect">
              <a:avLst>
                <a:gd name="adj" fmla="val 12500"/>
              </a:avLst>
            </a:prstGeom>
            <a:solidFill>
              <a:srgbClr val="252640"/>
            </a:solidFill>
            <a:ln w="14288">
              <a:solidFill>
                <a:srgbClr val="6C63FF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109055" y="1664018"/>
              <a:ext cx="19738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Beverage (Abstract)</a:t>
              </a:r>
            </a:p>
          </p:txBody>
        </p:sp>
      </p:grpSp>
      <p:sp>
        <p:nvSpPr>
          <p:cNvPr id="8" name="Line 8"/>
          <p:cNvSpPr/>
          <p:nvPr/>
        </p:nvSpPr>
        <p:spPr>
          <a:xfrm>
            <a:off x="6096000" y="1981200"/>
            <a:ext cx="9525" cy="304800"/>
          </a:xfrm>
          <a:custGeom>
            <a:avLst/>
            <a:gdLst/>
            <a:ahLst/>
            <a:cxnLst/>
            <a:rect l="l" t="t" r="r" b="b"/>
            <a:pathLst>
              <a:path w="952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6C63FF"/>
            </a:solidFill>
          </a:ln>
        </p:spPr>
      </p:sp>
      <p:sp>
        <p:nvSpPr>
          <p:cNvPr id="9" name="Line 9"/>
          <p:cNvSpPr/>
          <p:nvPr/>
        </p:nvSpPr>
        <p:spPr>
          <a:xfrm>
            <a:off x="1905000" y="2286000"/>
            <a:ext cx="8382000" cy="9525"/>
          </a:xfrm>
          <a:custGeom>
            <a:avLst/>
            <a:gdLst/>
            <a:ahLst/>
            <a:cxnLst/>
            <a:rect l="l" t="t" r="r" b="b"/>
            <a:pathLst>
              <a:path w="8382000" h="9525">
                <a:moveTo>
                  <a:pt x="0" y="0"/>
                </a:moveTo>
                <a:lnTo>
                  <a:pt x="8382000" y="0"/>
                </a:lnTo>
              </a:path>
            </a:pathLst>
          </a:custGeom>
          <a:noFill/>
          <a:ln w="9525">
            <a:solidFill>
              <a:srgbClr val="6C63FF"/>
            </a:solidFill>
          </a:ln>
        </p:spPr>
      </p:sp>
      <p:grpSp>
        <p:nvGrpSpPr>
          <p:cNvPr id="13" name="Group 13"/>
          <p:cNvGrpSpPr/>
          <p:nvPr/>
        </p:nvGrpSpPr>
        <p:grpSpPr>
          <a:xfrm>
            <a:off x="952500" y="2286000"/>
            <a:ext cx="1905000" cy="666750"/>
            <a:chOff x="952500" y="2286000"/>
            <a:chExt cx="1905000" cy="666750"/>
          </a:xfrm>
        </p:grpSpPr>
        <p:sp>
          <p:nvSpPr>
            <p:cNvPr id="10" name="Line 10"/>
            <p:cNvSpPr/>
            <p:nvPr/>
          </p:nvSpPr>
          <p:spPr>
            <a:xfrm>
              <a:off x="1905000" y="22860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952500" y="2571750"/>
              <a:ext cx="1905000" cy="3810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545422" y="2706052"/>
              <a:ext cx="7191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DarkRoast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048000" y="2286000"/>
            <a:ext cx="1905000" cy="666750"/>
            <a:chOff x="3048000" y="2286000"/>
            <a:chExt cx="1905000" cy="666750"/>
          </a:xfrm>
        </p:grpSpPr>
        <p:sp>
          <p:nvSpPr>
            <p:cNvPr id="14" name="Line 14"/>
            <p:cNvSpPr/>
            <p:nvPr/>
          </p:nvSpPr>
          <p:spPr>
            <a:xfrm>
              <a:off x="4000500" y="22860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048000" y="2571750"/>
              <a:ext cx="1905000" cy="3810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504715" y="2706052"/>
              <a:ext cx="991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DarkRoastMilk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143500" y="2286000"/>
            <a:ext cx="1905000" cy="666750"/>
            <a:chOff x="5143500" y="2286000"/>
            <a:chExt cx="1905000" cy="666750"/>
          </a:xfrm>
        </p:grpSpPr>
        <p:sp>
          <p:nvSpPr>
            <p:cNvPr id="18" name="Line 18"/>
            <p:cNvSpPr/>
            <p:nvPr/>
          </p:nvSpPr>
          <p:spPr>
            <a:xfrm>
              <a:off x="6096000" y="22860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143500" y="2571750"/>
              <a:ext cx="1905000" cy="3810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525557" y="2706052"/>
              <a:ext cx="11408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DarkRoastMocha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239000" y="2286000"/>
            <a:ext cx="1905000" cy="666750"/>
            <a:chOff x="7239000" y="2286000"/>
            <a:chExt cx="1905000" cy="666750"/>
          </a:xfrm>
        </p:grpSpPr>
        <p:sp>
          <p:nvSpPr>
            <p:cNvPr id="22" name="Line 22"/>
            <p:cNvSpPr/>
            <p:nvPr/>
          </p:nvSpPr>
          <p:spPr>
            <a:xfrm>
              <a:off x="8191500" y="22860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239000" y="2571750"/>
              <a:ext cx="1905000" cy="3810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84834" y="2706052"/>
              <a:ext cx="14133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DarkRoastMilkMocha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334500" y="2286000"/>
            <a:ext cx="1905000" cy="666750"/>
            <a:chOff x="9334500" y="2286000"/>
            <a:chExt cx="1905000" cy="666750"/>
          </a:xfrm>
        </p:grpSpPr>
        <p:sp>
          <p:nvSpPr>
            <p:cNvPr id="26" name="Line 26"/>
            <p:cNvSpPr/>
            <p:nvPr/>
          </p:nvSpPr>
          <p:spPr>
            <a:xfrm>
              <a:off x="10287000" y="22860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9334500" y="2571750"/>
              <a:ext cx="1905000" cy="3810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98593" y="2706052"/>
              <a:ext cx="11768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... more classes</a:t>
              </a:r>
            </a:p>
          </p:txBody>
        </p:sp>
      </p:grpSp>
      <p:sp>
        <p:nvSpPr>
          <p:cNvPr id="30" name="Rectangle 30"/>
          <p:cNvSpPr/>
          <p:nvPr/>
        </p:nvSpPr>
        <p:spPr>
          <a:xfrm>
            <a:off x="762000" y="3619500"/>
            <a:ext cx="10668000" cy="1524000"/>
          </a:xfrm>
          <a:prstGeom prst="roundRect">
            <a:avLst>
              <a:gd name="adj" fmla="val 5000"/>
            </a:avLst>
          </a:prstGeom>
          <a:solidFill>
            <a:srgbClr val="252640"/>
          </a:solidFill>
          <a:ln w="14288">
            <a:solidFill>
              <a:srgbClr val="FF6B6B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134618" y="3822382"/>
            <a:ext cx="299097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6B6B"/>
                </a:solidFill>
                <a:latin typeface="Segoe UI"/>
                <a:ea typeface="Segoe UI"/>
                <a:cs typeface="Segoe UI"/>
              </a:rPr>
              <a:t>⚠ Class Explosion Problem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36142" y="4235768"/>
            <a:ext cx="439155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With 4 beverages × 4 condiments (each optional):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32332" y="4459605"/>
            <a:ext cx="4325474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4 × 2⁴ = 64 subclasses needed!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36904" y="4842510"/>
            <a:ext cx="40644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Each new condiment doubles the number of classes.</a:t>
            </a:r>
          </a:p>
        </p:txBody>
      </p:sp>
      <p:sp>
        <p:nvSpPr>
          <p:cNvPr id="35" name="Rectangle 3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4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09064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Naive Solution 2: Boolean Flags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143000"/>
            <a:ext cx="5143500" cy="4191000"/>
          </a:xfrm>
          <a:prstGeom prst="roundRect">
            <a:avLst>
              <a:gd name="adj" fmla="val 1818"/>
            </a:avLst>
          </a:prstGeom>
          <a:solidFill>
            <a:srgbClr val="0D1117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946785" y="1307306"/>
            <a:ext cx="2647762" cy="3029903"/>
            <a:chOff x="946785" y="1307306"/>
            <a:chExt cx="2647762" cy="3029903"/>
          </a:xfrm>
        </p:grpSpPr>
        <p:sp>
          <p:nvSpPr>
            <p:cNvPr id="5" name="TextBox 5"/>
            <p:cNvSpPr txBox="1"/>
            <p:nvPr/>
          </p:nvSpPr>
          <p:spPr>
            <a:xfrm>
              <a:off x="946785" y="1307306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46835" y="1307306"/>
              <a:ext cx="679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108835" y="1307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6785" y="1545431"/>
              <a:ext cx="26477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Boolean flags for each condiment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6785" y="1783556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bool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27785" y="1783556"/>
              <a:ext cx="1783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milk, mocha, soy, whip;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6785" y="2116931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18285" y="21169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51660" y="2116931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 {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785" y="2355056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65910" y="2355056"/>
              <a:ext cx="14803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total = baseCost();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785" y="2640806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7285" y="2640806"/>
              <a:ext cx="13080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(milk) total += 5;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785" y="2878931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if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7285" y="2878931"/>
              <a:ext cx="15493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(mocha) total += 10;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785" y="3117056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if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37285" y="3117056"/>
              <a:ext cx="12703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(soy) total += 8;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355181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if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37285" y="335518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(whip) total += 7;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785" y="364093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89710" y="3640931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total;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785" y="3879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11718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468618" y="1345882"/>
            <a:ext cx="4961382" cy="3149918"/>
            <a:chOff x="6468618" y="1345882"/>
            <a:chExt cx="4961382" cy="3149918"/>
          </a:xfrm>
        </p:grpSpPr>
        <p:sp>
          <p:nvSpPr>
            <p:cNvPr id="29" name="TextBox 29"/>
            <p:cNvSpPr txBox="1"/>
            <p:nvPr/>
          </p:nvSpPr>
          <p:spPr>
            <a:xfrm>
              <a:off x="6468618" y="1345882"/>
              <a:ext cx="253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Looks simpler, but...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77000" y="1809750"/>
              <a:ext cx="4953000" cy="5715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61404" y="1927860"/>
              <a:ext cx="3176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6B6B"/>
                  </a:solidFill>
                  <a:latin typeface="Segoe UI"/>
                  <a:ea typeface="Segoe UI"/>
                  <a:cs typeface="Segoe UI"/>
                </a:rPr>
                <a:t>✗ Adding a condiment = modify the class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2166" y="2153602"/>
              <a:ext cx="21059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Violates Open-Closed Principle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77000" y="2514600"/>
              <a:ext cx="4953000" cy="5715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61404" y="2632710"/>
              <a:ext cx="36450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6B6B"/>
                  </a:solidFill>
                  <a:latin typeface="Segoe UI"/>
                  <a:ea typeface="Segoe UI"/>
                  <a:cs typeface="Segoe UI"/>
                </a:rPr>
                <a:t>✗ Can't add two shots of the same condiment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2166" y="2858452"/>
              <a:ext cx="22209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Boolean = on or off, no quantity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77000" y="3219450"/>
              <a:ext cx="4953000" cy="5715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61404" y="3337560"/>
              <a:ext cx="34530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6B6B"/>
                  </a:solidFill>
                  <a:latin typeface="Segoe UI"/>
                  <a:ea typeface="Segoe UI"/>
                  <a:cs typeface="Segoe UI"/>
                </a:rPr>
                <a:t>✗ cost() becomes a maintenance nightmare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2166" y="3563302"/>
              <a:ext cx="2976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Every new condiment adds another if-block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77000" y="3924300"/>
              <a:ext cx="4953000" cy="5715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61404" y="4042410"/>
              <a:ext cx="3418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6B6B"/>
                  </a:solidFill>
                  <a:latin typeface="Segoe UI"/>
                  <a:ea typeface="Segoe UI"/>
                  <a:cs typeface="Segoe UI"/>
                </a:rPr>
                <a:t>✗ Not all condiments apply to all beverages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2166" y="4268152"/>
              <a:ext cx="26993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Tea with whip? Espresso with soy milk?</a:t>
              </a:r>
            </a:p>
          </p:txBody>
        </p:sp>
      </p:grpSp>
      <p:sp>
        <p:nvSpPr>
          <p:cNvPr id="43" name="Rectangle 43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5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28157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Problems with Naive Approaches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143000"/>
            <a:ext cx="5143500" cy="2286000"/>
          </a:xfrm>
          <a:prstGeom prst="roundRect">
            <a:avLst>
              <a:gd name="adj" fmla="val 4167"/>
            </a:avLst>
          </a:prstGeom>
          <a:solidFill>
            <a:srgbClr val="252640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143000"/>
            <a:ext cx="5143500" cy="571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126236" y="1243965"/>
            <a:ext cx="47777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300" dirty="0">
                <a:solidFill>
                  <a:srgbClr val="FF6B6B"/>
                </a:solidFill>
                <a:latin typeface="Segoe UI"/>
                <a:ea typeface="Segoe UI"/>
                <a:cs typeface="Segoe UI"/>
              </a:rPr>
              <a:t>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68018" y="1422082"/>
            <a:ext cx="172134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Class Explosion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6523" y="1814989"/>
            <a:ext cx="36287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Every combination of beverage + condiment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36523" y="2053114"/>
            <a:ext cx="2545964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requires a separate subclass.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7285" y="2402681"/>
            <a:ext cx="35152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N beverages × 2ᴷ condiments = too many classes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286500" y="1143000"/>
            <a:ext cx="5143500" cy="2286000"/>
          </a:xfrm>
          <a:prstGeom prst="roundRect">
            <a:avLst>
              <a:gd name="adj" fmla="val 4167"/>
            </a:avLst>
          </a:prstGeom>
          <a:solidFill>
            <a:srgbClr val="2526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286500" y="1143000"/>
            <a:ext cx="5143500" cy="571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650736" y="1243965"/>
            <a:ext cx="47777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300" dirty="0">
                <a:solidFill>
                  <a:srgbClr val="FF6B6B"/>
                </a:solidFill>
                <a:latin typeface="Segoe UI"/>
                <a:ea typeface="Segoe UI"/>
                <a:cs typeface="Segoe UI"/>
              </a:rPr>
              <a:t>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2518" y="1422082"/>
            <a:ext cx="201417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Hard Maintenance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61023" y="1814989"/>
            <a:ext cx="2835977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Changing the price of a condiment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61023" y="2053114"/>
            <a:ext cx="2985364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requires editing dozens of classes.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661785" y="2402681"/>
            <a:ext cx="266287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Bug-prone, time-consuming updates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3714750"/>
            <a:ext cx="5143500" cy="2286000"/>
          </a:xfrm>
          <a:prstGeom prst="roundRect">
            <a:avLst>
              <a:gd name="adj" fmla="val 4167"/>
            </a:avLst>
          </a:prstGeom>
          <a:solidFill>
            <a:srgbClr val="252640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762000" y="3714750"/>
            <a:ext cx="5143500" cy="571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126236" y="3815715"/>
            <a:ext cx="47777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300" dirty="0">
                <a:solidFill>
                  <a:srgbClr val="FF6B6B"/>
                </a:solidFill>
                <a:latin typeface="Segoe UI"/>
                <a:ea typeface="Segoe UI"/>
                <a:cs typeface="Segoe UI"/>
              </a:rPr>
              <a:t>🚫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68018" y="3993832"/>
            <a:ext cx="152571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OCP Violation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36523" y="4386739"/>
            <a:ext cx="342448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Open-Closed Principle: classes should be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36523" y="4624864"/>
            <a:ext cx="378662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open for extension, closed for modification.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37285" y="4974431"/>
            <a:ext cx="356695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Both approaches require modifying existing code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286500" y="3714750"/>
            <a:ext cx="5143500" cy="2286000"/>
          </a:xfrm>
          <a:prstGeom prst="roundRect">
            <a:avLst>
              <a:gd name="adj" fmla="val 4167"/>
            </a:avLst>
          </a:prstGeom>
          <a:solidFill>
            <a:srgbClr val="252640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6286500" y="3714750"/>
            <a:ext cx="5143500" cy="571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650736" y="3815715"/>
            <a:ext cx="47777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300" dirty="0">
                <a:solidFill>
                  <a:srgbClr val="FF6B6B"/>
                </a:solidFill>
                <a:latin typeface="Segoe UI"/>
                <a:ea typeface="Segoe UI"/>
                <a:cs typeface="Segoe UI"/>
              </a:rPr>
              <a:t>⛓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192518" y="3993832"/>
            <a:ext cx="243942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No Runtime Flexibility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661023" y="4386739"/>
            <a:ext cx="27157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Can't add or remove condiments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661023" y="4624864"/>
            <a:ext cx="411401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at runtime — everything is fixed at compile time.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661785" y="4974431"/>
            <a:ext cx="25342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Users want dynamic customization</a:t>
            </a:r>
          </a:p>
        </p:txBody>
      </p:sp>
      <p:sp>
        <p:nvSpPr>
          <p:cNvPr id="32" name="Rectangle 32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6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31453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Decorator Pattern Introduction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53618" y="1250632"/>
            <a:ext cx="5791318" cy="3820669"/>
            <a:chOff x="753618" y="1250632"/>
            <a:chExt cx="5791318" cy="3820669"/>
          </a:xfrm>
        </p:grpSpPr>
        <p:sp>
          <p:nvSpPr>
            <p:cNvPr id="4" name="TextBox 4"/>
            <p:cNvSpPr txBox="1"/>
            <p:nvPr/>
          </p:nvSpPr>
          <p:spPr>
            <a:xfrm>
              <a:off x="753618" y="1250632"/>
              <a:ext cx="441672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The Solution: Dynamic Object Wrapping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142" y="1711642"/>
              <a:ext cx="54172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Instead of using inheritance to add behavior at compile time,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142" y="1997392"/>
              <a:ext cx="5078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use </a:t>
              </a:r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Composition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to wrap objects dynamically at runtime.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762000" y="2571750"/>
              <a:ext cx="5143500" cy="1143000"/>
            </a:xfrm>
            <a:prstGeom prst="roundRect">
              <a:avLst>
                <a:gd name="adj" fmla="val 6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0892" y="2807018"/>
              <a:ext cx="1287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🔑 Key Insight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41654" y="3156585"/>
              <a:ext cx="44982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The wrapper (Decorator) implements the same interface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41654" y="3394710"/>
              <a:ext cx="18053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as the object it wraps!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5142" y="4045268"/>
              <a:ext cx="53808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Attach additional responsibilities to an object dynamically.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5142" y="4426268"/>
              <a:ext cx="57897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Flexible alternative to subclassing for extending functionality.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4807268"/>
              <a:ext cx="52361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Wrappers can be stacked in any sequence or combination.</a:t>
              </a:r>
            </a:p>
          </p:txBody>
        </p:sp>
      </p:grpSp>
      <p:pic>
        <p:nvPicPr>
          <p:cNvPr id="15" name="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33500"/>
            <a:ext cx="4572000" cy="4572000"/>
          </a:xfrm>
          <a:prstGeom prst="rect">
            <a:avLst/>
          </a:prstGeom>
        </p:spPr>
      </p:pic>
      <p:sp>
        <p:nvSpPr>
          <p:cNvPr id="16" name="Rectangle 1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7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920669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Formal Definition (GoF)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333500"/>
            <a:ext cx="10668000" cy="1428750"/>
          </a:xfrm>
          <a:prstGeom prst="roundRect">
            <a:avLst>
              <a:gd name="adj" fmla="val 6667"/>
            </a:avLst>
          </a:prstGeom>
          <a:solidFill>
            <a:srgbClr val="252640"/>
          </a:solidFill>
          <a:ln w="14288">
            <a:solidFill>
              <a:srgbClr val="6C63FF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1133856" y="1615440"/>
            <a:ext cx="746836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i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"Attach additional responsibilities to an object dynamically.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1996440"/>
            <a:ext cx="746836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i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Decorators provide a flexible alternative to subclassing for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2377440"/>
            <a:ext cx="319868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i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extending functionality."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20152" y="2442210"/>
            <a:ext cx="31349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— Design Patterns (Gang of Four, 1994)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62000" y="3143250"/>
            <a:ext cx="3238500" cy="2857500"/>
            <a:chOff x="762000" y="3143250"/>
            <a:chExt cx="3238500" cy="2857500"/>
          </a:xfrm>
        </p:grpSpPr>
        <p:sp>
          <p:nvSpPr>
            <p:cNvPr id="9" name="Rectangle 9"/>
            <p:cNvSpPr/>
            <p:nvPr/>
          </p:nvSpPr>
          <p:spPr>
            <a:xfrm>
              <a:off x="762000" y="3143250"/>
              <a:ext cx="3238500" cy="2857500"/>
            </a:xfrm>
            <a:prstGeom prst="roundRect">
              <a:avLst>
                <a:gd name="adj" fmla="val 2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0130" y="3409950"/>
              <a:ext cx="20671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1. Wrapper Concept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1654" y="3823335"/>
              <a:ext cx="18809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Also known as </a:t>
              </a:r>
              <a:r>
                <a:rPr lang="en-US" sz="1200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Wrapper</a:t>
              </a:r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1654" y="4109085"/>
              <a:ext cx="1947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Encloses a target object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1654" y="4394835"/>
              <a:ext cx="20799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inside a decorator object.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2035" y="4831556"/>
              <a:ext cx="19765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Passes requests to target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2035" y="5069681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and performs additional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2035" y="5307806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actions before/after.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476750" y="3143250"/>
            <a:ext cx="3238500" cy="2857500"/>
            <a:chOff x="4476750" y="3143250"/>
            <a:chExt cx="3238500" cy="2857500"/>
          </a:xfrm>
        </p:grpSpPr>
        <p:sp>
          <p:nvSpPr>
            <p:cNvPr id="18" name="Rectangle 18"/>
            <p:cNvSpPr/>
            <p:nvPr/>
          </p:nvSpPr>
          <p:spPr>
            <a:xfrm>
              <a:off x="4476750" y="3143250"/>
              <a:ext cx="3238500" cy="2857500"/>
            </a:xfrm>
            <a:prstGeom prst="roundRect">
              <a:avLst>
                <a:gd name="adj" fmla="val 2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754880" y="3409950"/>
              <a:ext cx="23097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2. Interface Matching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56404" y="3823335"/>
              <a:ext cx="183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Decorator conforms to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56404" y="4109085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the component interface.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56785" y="4545806"/>
              <a:ext cx="1637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Client treats wrapped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56785" y="4783931"/>
              <a:ext cx="15719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objects identically to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56785" y="5022056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unwrapped base objects.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56785" y="5307806"/>
              <a:ext cx="16522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Transparent to client!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191500" y="3143250"/>
            <a:ext cx="3238500" cy="2857500"/>
            <a:chOff x="8191500" y="3143250"/>
            <a:chExt cx="3238500" cy="2857500"/>
          </a:xfrm>
        </p:grpSpPr>
        <p:sp>
          <p:nvSpPr>
            <p:cNvPr id="27" name="Rectangle 27"/>
            <p:cNvSpPr/>
            <p:nvPr/>
          </p:nvSpPr>
          <p:spPr>
            <a:xfrm>
              <a:off x="8191500" y="3143250"/>
              <a:ext cx="3238500" cy="2857500"/>
            </a:xfrm>
            <a:prstGeom prst="roundRect">
              <a:avLst>
                <a:gd name="adj" fmla="val 2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69630" y="3409950"/>
              <a:ext cx="21505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3. Recursive Nesting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71154" y="3823335"/>
              <a:ext cx="16573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Decorators can wrap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71154" y="4109085"/>
              <a:ext cx="14877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other Decorators.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71535" y="4545806"/>
              <a:ext cx="1561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Creates an arbitrary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71535" y="4783931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chain/pipeline of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71535" y="5022056"/>
              <a:ext cx="1602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behaviors executed in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71535" y="5260181"/>
              <a:ext cx="1051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nested order.</a:t>
              </a:r>
            </a:p>
          </p:txBody>
        </p:sp>
      </p:grpSp>
      <p:sp>
        <p:nvSpPr>
          <p:cNvPr id="36" name="Rectangle 3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8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46424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Core Design Principle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1143000"/>
          </a:xfrm>
          <a:prstGeom prst="roundRect">
            <a:avLst>
              <a:gd name="adj" fmla="val 6667"/>
            </a:avLst>
          </a:prstGeom>
          <a:solidFill>
            <a:srgbClr val="252640"/>
          </a:solidFill>
          <a:ln w="14288">
            <a:solidFill>
              <a:srgbClr val="00D4AA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1133856" y="1472565"/>
            <a:ext cx="35707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Open-Closed Principle (OCP)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5380" y="1885950"/>
            <a:ext cx="700963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"Classes should be OPEN for extension, but CLOSED for modification."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62000" y="2762250"/>
            <a:ext cx="5143500" cy="3429000"/>
            <a:chOff x="762000" y="2762250"/>
            <a:chExt cx="5143500" cy="3429000"/>
          </a:xfrm>
        </p:grpSpPr>
        <p:sp>
          <p:nvSpPr>
            <p:cNvPr id="7" name="Rectangle 7"/>
            <p:cNvSpPr/>
            <p:nvPr/>
          </p:nvSpPr>
          <p:spPr>
            <a:xfrm>
              <a:off x="762000" y="2762250"/>
              <a:ext cx="5143500" cy="3429000"/>
            </a:xfrm>
            <a:prstGeom prst="roundRect">
              <a:avLst>
                <a:gd name="adj" fmla="val 2222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34618" y="3012758"/>
              <a:ext cx="22128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Open for Extension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6142" y="3521392"/>
              <a:ext cx="3482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You can add new behavior or features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36142" y="3807142"/>
              <a:ext cx="1113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at any time.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6142" y="4283392"/>
              <a:ext cx="37306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Simply create a new Concrete Decorator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6142" y="4569142"/>
              <a:ext cx="8678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subclass.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6142" y="5045392"/>
              <a:ext cx="32548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Dynamically compose new behaviors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6142" y="5331142"/>
              <a:ext cx="27852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without altering existing code.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286500" y="2762250"/>
            <a:ext cx="5143500" cy="3429000"/>
            <a:chOff x="6286500" y="2762250"/>
            <a:chExt cx="5143500" cy="3429000"/>
          </a:xfrm>
        </p:grpSpPr>
        <p:sp>
          <p:nvSpPr>
            <p:cNvPr id="16" name="Rectangle 16"/>
            <p:cNvSpPr/>
            <p:nvPr/>
          </p:nvSpPr>
          <p:spPr>
            <a:xfrm>
              <a:off x="6286500" y="2762250"/>
              <a:ext cx="5143500" cy="3429000"/>
            </a:xfrm>
            <a:prstGeom prst="roundRect">
              <a:avLst>
                <a:gd name="adj" fmla="val 2222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59118" y="3012758"/>
              <a:ext cx="26781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F6B6B"/>
                  </a:solidFill>
                  <a:latin typeface="Segoe UI"/>
                  <a:ea typeface="Segoe UI"/>
                  <a:cs typeface="Segoe UI"/>
                </a:rPr>
                <a:t>Closed for Modification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60642" y="3521392"/>
              <a:ext cx="37820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Existing tested code remains untouched.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60642" y="3997642"/>
              <a:ext cx="32554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Base components don't know about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60642" y="4283392"/>
              <a:ext cx="24489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decorators wrapping them.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60642" y="4759642"/>
              <a:ext cx="32455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Eliminates risk of introducing bugs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0642" y="5045392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into working production code.</a:t>
              </a:r>
            </a:p>
          </p:txBody>
        </p:sp>
      </p:grpSp>
      <p:sp>
        <p:nvSpPr>
          <p:cNvPr id="24" name="Rectangle 24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11028883" y="6649402"/>
            <a:ext cx="4064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9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04876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UML Class Diagram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4667250" y="1143000"/>
            <a:ext cx="2857500" cy="873061"/>
            <a:chOff x="4667250" y="1143000"/>
            <a:chExt cx="2857500" cy="873061"/>
          </a:xfrm>
        </p:grpSpPr>
        <p:sp>
          <p:nvSpPr>
            <p:cNvPr id="4" name="Rectangle 4"/>
            <p:cNvSpPr/>
            <p:nvPr/>
          </p:nvSpPr>
          <p:spPr>
            <a:xfrm>
              <a:off x="4667250" y="1143000"/>
              <a:ext cx="2857500" cy="857250"/>
            </a:xfrm>
            <a:prstGeom prst="roundRect">
              <a:avLst>
                <a:gd name="adj" fmla="val 4444"/>
              </a:avLst>
            </a:prstGeom>
            <a:solidFill>
              <a:srgbClr val="252640"/>
            </a:solidFill>
            <a:ln w="14288">
              <a:solidFill>
                <a:srgbClr val="6C63FF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5570113" y="1307306"/>
              <a:ext cx="1051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i="1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&lt;&lt;interface&gt;&gt;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666359" y="1521142"/>
              <a:ext cx="8592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Beverage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4667250" y="1762125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4804791" y="1810702"/>
              <a:ext cx="11485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+ cost(): double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714500" y="2762250"/>
            <a:ext cx="2667000" cy="857250"/>
            <a:chOff x="1714500" y="2762250"/>
            <a:chExt cx="2667000" cy="857250"/>
          </a:xfrm>
        </p:grpSpPr>
        <p:sp>
          <p:nvSpPr>
            <p:cNvPr id="10" name="Rectangle 10"/>
            <p:cNvSpPr/>
            <p:nvPr/>
          </p:nvSpPr>
          <p:spPr>
            <a:xfrm>
              <a:off x="1714500" y="2762250"/>
              <a:ext cx="2667000" cy="857250"/>
            </a:xfrm>
            <a:prstGeom prst="roundRect">
              <a:avLst>
                <a:gd name="adj" fmla="val 4444"/>
              </a:avLst>
            </a:prstGeom>
            <a:solidFill>
              <a:srgbClr val="252640"/>
            </a:solidFill>
            <a:ln w="14288">
              <a:solidFill>
                <a:srgbClr val="00D4A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618359" y="2949892"/>
              <a:ext cx="8592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Espresso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714500" y="32385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00D4A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852041" y="3334702"/>
              <a:ext cx="16220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+ cost(): double = 1.99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810500" y="2762250"/>
            <a:ext cx="2667000" cy="1047750"/>
            <a:chOff x="7810500" y="2762250"/>
            <a:chExt cx="2667000" cy="1047750"/>
          </a:xfrm>
        </p:grpSpPr>
        <p:sp>
          <p:nvSpPr>
            <p:cNvPr id="15" name="Rectangle 15"/>
            <p:cNvSpPr/>
            <p:nvPr/>
          </p:nvSpPr>
          <p:spPr>
            <a:xfrm>
              <a:off x="7810500" y="2762250"/>
              <a:ext cx="2667000" cy="1047750"/>
            </a:xfrm>
            <a:prstGeom prst="roundRect">
              <a:avLst>
                <a:gd name="adj" fmla="val 3636"/>
              </a:avLst>
            </a:prstGeom>
            <a:solidFill>
              <a:srgbClr val="252640"/>
            </a:solidFill>
            <a:ln w="14288">
              <a:solidFill>
                <a:srgbClr val="6C63F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40729" y="2926556"/>
              <a:ext cx="1006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i="1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&lt;&lt;abstract&gt;&gt;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91424" y="3111818"/>
              <a:ext cx="19051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CondimentDecorator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810500" y="33528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6C63F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948422" y="3418999"/>
              <a:ext cx="14728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# beverage: Beverage*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48422" y="3590449"/>
              <a:ext cx="16590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+ cost(): double override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77000" y="4572000"/>
            <a:ext cx="2476500" cy="762000"/>
            <a:chOff x="6477000" y="4572000"/>
            <a:chExt cx="2476500" cy="762000"/>
          </a:xfrm>
        </p:grpSpPr>
        <p:sp>
          <p:nvSpPr>
            <p:cNvPr id="22" name="Rectangle 22"/>
            <p:cNvSpPr/>
            <p:nvPr/>
          </p:nvSpPr>
          <p:spPr>
            <a:xfrm>
              <a:off x="6477000" y="4572000"/>
              <a:ext cx="2476500" cy="762000"/>
            </a:xfrm>
            <a:prstGeom prst="roundRect">
              <a:avLst>
                <a:gd name="adj" fmla="val 5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45734" y="4775835"/>
              <a:ext cx="3390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Milk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477000" y="50292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00D4A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14922" y="5114449"/>
              <a:ext cx="21999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+ cost(): double = wrapped + 0.10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334500" y="4572000"/>
            <a:ext cx="2476500" cy="762000"/>
            <a:chOff x="9334500" y="4572000"/>
            <a:chExt cx="2476500" cy="762000"/>
          </a:xfrm>
        </p:grpSpPr>
        <p:sp>
          <p:nvSpPr>
            <p:cNvPr id="27" name="Rectangle 27"/>
            <p:cNvSpPr/>
            <p:nvPr/>
          </p:nvSpPr>
          <p:spPr>
            <a:xfrm>
              <a:off x="9334500" y="4572000"/>
              <a:ext cx="2476500" cy="762000"/>
            </a:xfrm>
            <a:prstGeom prst="roundRect">
              <a:avLst>
                <a:gd name="adj" fmla="val 5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313630" y="4775835"/>
              <a:ext cx="5182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Mocha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9334500" y="50292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00D4A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72422" y="5114449"/>
              <a:ext cx="21999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+ cost(): double = wrapped + 0.20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048000" y="2286000"/>
            <a:ext cx="9525" cy="476250"/>
          </a:xfrm>
          <a:custGeom>
            <a:avLst/>
            <a:gdLst/>
            <a:ahLst/>
            <a:cxnLst/>
            <a:rect l="l" t="t" r="r" b="b"/>
            <a:pathLst>
              <a:path w="9525" h="476250">
                <a:moveTo>
                  <a:pt x="0" y="47625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  <a:prstDash val="dash"/>
          </a:ln>
        </p:spPr>
      </p:sp>
      <p:sp>
        <p:nvSpPr>
          <p:cNvPr id="33" name="Line 33"/>
          <p:cNvSpPr/>
          <p:nvPr/>
        </p:nvSpPr>
        <p:spPr>
          <a:xfrm>
            <a:off x="3048000" y="22860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14288">
            <a:solidFill>
              <a:srgbClr val="808090"/>
            </a:solidFill>
            <a:prstDash val="dash"/>
          </a:ln>
        </p:spPr>
      </p:sp>
      <p:sp>
        <p:nvSpPr>
          <p:cNvPr id="34" name="Line 34"/>
          <p:cNvSpPr/>
          <p:nvPr/>
        </p:nvSpPr>
        <p:spPr>
          <a:xfrm>
            <a:off x="6096000" y="20002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28575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  <a:prstDash val="dash"/>
          </a:ln>
        </p:spPr>
      </p:sp>
      <p:sp>
        <p:nvSpPr>
          <p:cNvPr id="35" name="Line 35"/>
          <p:cNvSpPr/>
          <p:nvPr/>
        </p:nvSpPr>
        <p:spPr>
          <a:xfrm>
            <a:off x="9144000" y="2286000"/>
            <a:ext cx="9525" cy="476250"/>
          </a:xfrm>
          <a:custGeom>
            <a:avLst/>
            <a:gdLst/>
            <a:ahLst/>
            <a:cxnLst/>
            <a:rect l="l" t="t" r="r" b="b"/>
            <a:pathLst>
              <a:path w="9525" h="476250">
                <a:moveTo>
                  <a:pt x="0" y="47625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  <a:prstDash val="dash"/>
          </a:ln>
        </p:spPr>
      </p:sp>
      <p:sp>
        <p:nvSpPr>
          <p:cNvPr id="36" name="Line 36"/>
          <p:cNvSpPr/>
          <p:nvPr/>
        </p:nvSpPr>
        <p:spPr>
          <a:xfrm>
            <a:off x="6096000" y="22860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3048000" y="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  <a:prstDash val="dash"/>
          </a:ln>
        </p:spPr>
      </p:sp>
      <p:sp>
        <p:nvSpPr>
          <p:cNvPr id="37" name="Freeform 37"/>
          <p:cNvSpPr/>
          <p:nvPr/>
        </p:nvSpPr>
        <p:spPr>
          <a:xfrm>
            <a:off x="6096000" y="2000250"/>
            <a:ext cx="1714500" cy="1143000"/>
          </a:xfrm>
          <a:custGeom>
            <a:avLst/>
            <a:gdLst/>
            <a:ahLst/>
            <a:cxnLst/>
            <a:rect l="l" t="t" r="r" b="b"/>
            <a:pathLst>
              <a:path w="1714500" h="1143000">
                <a:moveTo>
                  <a:pt x="1714500" y="1143000"/>
                </a:moveTo>
                <a:lnTo>
                  <a:pt x="0" y="114300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6C63FF"/>
            </a:solidFill>
          </a:ln>
        </p:spPr>
      </p:sp>
      <p:sp>
        <p:nvSpPr>
          <p:cNvPr id="38" name="Polygon 38"/>
          <p:cNvSpPr/>
          <p:nvPr/>
        </p:nvSpPr>
        <p:spPr>
          <a:xfrm>
            <a:off x="7524750" y="3076575"/>
            <a:ext cx="285750" cy="133350"/>
          </a:xfrm>
          <a:custGeom>
            <a:avLst/>
            <a:gdLst/>
            <a:ahLst/>
            <a:cxnLst/>
            <a:rect l="l" t="t" r="r" b="b"/>
            <a:pathLst>
              <a:path w="285750" h="133350">
                <a:moveTo>
                  <a:pt x="285750" y="66675"/>
                </a:moveTo>
                <a:lnTo>
                  <a:pt x="142875" y="0"/>
                </a:lnTo>
                <a:lnTo>
                  <a:pt x="0" y="66675"/>
                </a:lnTo>
                <a:lnTo>
                  <a:pt x="142875" y="133350"/>
                </a:lnTo>
                <a:close/>
              </a:path>
            </a:pathLst>
          </a:custGeom>
          <a:solidFill>
            <a:srgbClr val="6C63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757797" y="2942749"/>
            <a:ext cx="53629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6C63FF"/>
                </a:solidFill>
                <a:latin typeface="Segoe UI"/>
                <a:ea typeface="Segoe UI"/>
                <a:cs typeface="Segoe UI"/>
              </a:rPr>
              <a:t>wraps 1</a:t>
            </a:r>
          </a:p>
        </p:txBody>
      </p:sp>
      <p:sp>
        <p:nvSpPr>
          <p:cNvPr id="40" name="Line 40"/>
          <p:cNvSpPr/>
          <p:nvPr/>
        </p:nvSpPr>
        <p:spPr>
          <a:xfrm>
            <a:off x="7715250" y="41910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38100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</a:ln>
        </p:spPr>
      </p:sp>
      <p:sp>
        <p:nvSpPr>
          <p:cNvPr id="41" name="Line 41"/>
          <p:cNvSpPr/>
          <p:nvPr/>
        </p:nvSpPr>
        <p:spPr>
          <a:xfrm>
            <a:off x="10572750" y="41910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38100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</a:ln>
        </p:spPr>
      </p:sp>
      <p:sp>
        <p:nvSpPr>
          <p:cNvPr id="42" name="Line 42"/>
          <p:cNvSpPr/>
          <p:nvPr/>
        </p:nvSpPr>
        <p:spPr>
          <a:xfrm>
            <a:off x="7715250" y="419100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14288">
            <a:solidFill>
              <a:srgbClr val="808090"/>
            </a:solidFill>
          </a:ln>
        </p:spPr>
      </p:sp>
      <p:sp>
        <p:nvSpPr>
          <p:cNvPr id="43" name="Line 43"/>
          <p:cNvSpPr/>
          <p:nvPr/>
        </p:nvSpPr>
        <p:spPr>
          <a:xfrm>
            <a:off x="9144000" y="38100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38100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808090"/>
            </a:solidFill>
          </a:ln>
        </p:spPr>
      </p:sp>
      <p:sp>
        <p:nvSpPr>
          <p:cNvPr id="44" name="Rectangle 44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10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44485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Class Roles in Decorator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762000" y="1238250"/>
            <a:ext cx="5143500" cy="2286000"/>
            <a:chOff x="762000" y="1238250"/>
            <a:chExt cx="5143500" cy="2286000"/>
          </a:xfrm>
        </p:grpSpPr>
        <p:sp>
          <p:nvSpPr>
            <p:cNvPr id="4" name="Rectangle 4"/>
            <p:cNvSpPr/>
            <p:nvPr/>
          </p:nvSpPr>
          <p:spPr>
            <a:xfrm>
              <a:off x="762000" y="1238250"/>
              <a:ext cx="51435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762000" y="1238250"/>
              <a:ext cx="57150" cy="2286000"/>
            </a:xfrm>
            <a:prstGeom prst="roundRect">
              <a:avLst>
                <a:gd name="adj" fmla="val 50000"/>
              </a:avLst>
            </a:prstGeom>
            <a:solidFill>
              <a:srgbClr val="6C63FF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86993" y="1488758"/>
              <a:ext cx="35774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1. Component (Base Interface)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88898" y="1910239"/>
              <a:ext cx="41803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Defines the interface for objects that can have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88898" y="2148364"/>
              <a:ext cx="36401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responsibilities added to them dynamically.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88898" y="2529364"/>
              <a:ext cx="34567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Abstract base class or pure interface.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89279" y="2918460"/>
              <a:ext cx="1485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i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Example: Beverage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286500" y="1238250"/>
            <a:ext cx="5143500" cy="2286000"/>
            <a:chOff x="6286500" y="1238250"/>
            <a:chExt cx="5143500" cy="2286000"/>
          </a:xfrm>
        </p:grpSpPr>
        <p:sp>
          <p:nvSpPr>
            <p:cNvPr id="12" name="Rectangle 12"/>
            <p:cNvSpPr/>
            <p:nvPr/>
          </p:nvSpPr>
          <p:spPr>
            <a:xfrm>
              <a:off x="6286500" y="1238250"/>
              <a:ext cx="51435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238250"/>
              <a:ext cx="57150" cy="2286000"/>
            </a:xfrm>
            <a:prstGeom prst="roundRect">
              <a:avLst>
                <a:gd name="adj" fmla="val 50000"/>
              </a:avLst>
            </a:prstGeom>
            <a:solidFill>
              <a:srgbClr val="00D4A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1493" y="1488758"/>
              <a:ext cx="25876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2. ConcreteComponent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3398" y="1910239"/>
              <a:ext cx="32237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Defines an object to which additional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13398" y="2148364"/>
              <a:ext cx="27958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responsibilities can be attached.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13398" y="2529364"/>
              <a:ext cx="32668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Represents core basic functionality.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13779" y="2918460"/>
              <a:ext cx="24337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i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Example: Espresso, DarkRoast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62000" y="3810000"/>
            <a:ext cx="5143500" cy="2286000"/>
            <a:chOff x="762000" y="3810000"/>
            <a:chExt cx="5143500" cy="2286000"/>
          </a:xfrm>
        </p:grpSpPr>
        <p:sp>
          <p:nvSpPr>
            <p:cNvPr id="20" name="Rectangle 20"/>
            <p:cNvSpPr/>
            <p:nvPr/>
          </p:nvSpPr>
          <p:spPr>
            <a:xfrm>
              <a:off x="762000" y="3810000"/>
              <a:ext cx="51435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3810000"/>
              <a:ext cx="57150" cy="2286000"/>
            </a:xfrm>
            <a:prstGeom prst="roundRect">
              <a:avLst>
                <a:gd name="adj" fmla="val 50000"/>
              </a:avLst>
            </a:prstGeom>
            <a:solidFill>
              <a:srgbClr val="6C63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86993" y="4060508"/>
              <a:ext cx="3892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3. Decorator (Abstract Wrapper)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88898" y="4481989"/>
              <a:ext cx="39190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Maintains a reference to a Component object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8898" y="4720114"/>
              <a:ext cx="35884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and defines an interface that conforms to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88898" y="4958239"/>
              <a:ext cx="2052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Component's interface.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9279" y="5490210"/>
              <a:ext cx="23704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i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Example: CondimentDecorator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286500" y="3810000"/>
            <a:ext cx="5143500" cy="2286000"/>
            <a:chOff x="6286500" y="3810000"/>
            <a:chExt cx="5143500" cy="2286000"/>
          </a:xfrm>
        </p:grpSpPr>
        <p:sp>
          <p:nvSpPr>
            <p:cNvPr id="28" name="Rectangle 28"/>
            <p:cNvSpPr/>
            <p:nvPr/>
          </p:nvSpPr>
          <p:spPr>
            <a:xfrm>
              <a:off x="6286500" y="3810000"/>
              <a:ext cx="51435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86500" y="3810000"/>
              <a:ext cx="57150" cy="2286000"/>
            </a:xfrm>
            <a:prstGeom prst="roundRect">
              <a:avLst>
                <a:gd name="adj" fmla="val 50000"/>
              </a:avLst>
            </a:prstGeom>
            <a:solidFill>
              <a:srgbClr val="00D4A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11493" y="4060508"/>
              <a:ext cx="25406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4. ConcreteDecorator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13398" y="4481989"/>
              <a:ext cx="34995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Adds responsibilities to the component.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13398" y="4862989"/>
              <a:ext cx="40425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Overrides methods and calls wrapped object's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3398" y="5101114"/>
              <a:ext cx="32438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methods + adds extra state/behavior.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13779" y="5490210"/>
              <a:ext cx="2193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i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Example: Milk, Mocha, Whip</a:t>
              </a:r>
            </a:p>
          </p:txBody>
        </p:sp>
      </p:grpSp>
      <p:sp>
        <p:nvSpPr>
          <p:cNvPr id="36" name="Rectangle 3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11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95825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C++ Implementation: Component Interface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942975" y="1343025"/>
            <a:ext cx="114300" cy="1143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1133475" y="1343025"/>
            <a:ext cx="114300" cy="1143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1323975" y="1343025"/>
            <a:ext cx="114300" cy="1143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99506" y="1343978"/>
            <a:ext cx="7929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Beverage.h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136523" y="1767364"/>
            <a:ext cx="6687409" cy="3583114"/>
            <a:chOff x="1136523" y="1767364"/>
            <a:chExt cx="6687409" cy="3583114"/>
          </a:xfrm>
        </p:grpSpPr>
        <p:sp>
          <p:nvSpPr>
            <p:cNvPr id="10" name="TextBox 10"/>
            <p:cNvSpPr txBox="1"/>
            <p:nvPr/>
          </p:nvSpPr>
          <p:spPr>
            <a:xfrm>
              <a:off x="1136523" y="1767364"/>
              <a:ext cx="11416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#pragma once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6523" y="2053114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#include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93773" y="2053114"/>
              <a:ext cx="7280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&lt;string&gt;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6523" y="2529364"/>
              <a:ext cx="4437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60398" y="2529364"/>
              <a:ext cx="81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65273" y="25293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36523" y="2815114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protected: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17523" y="3100864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std::string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60523" y="3100864"/>
              <a:ext cx="11157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description =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089273" y="3100864"/>
              <a:ext cx="17230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"Unknown Beverage"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803773" y="3100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36523" y="357711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17523" y="386286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virtual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79523" y="3862864"/>
              <a:ext cx="12103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~Beverage() =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08273" y="3862864"/>
              <a:ext cx="6332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default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75023" y="3862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17523" y="424386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virtual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79523" y="4243864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std::string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17773" y="4243864"/>
              <a:ext cx="12586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getDescription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946523" y="424386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184648" y="42438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08523" y="4243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946648" y="424386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3398" y="4243864"/>
              <a:ext cx="1210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description; }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17523" y="462486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virtual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279523" y="4624864"/>
              <a:ext cx="538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93898" y="462486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422523" y="462486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660648" y="462486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184523" y="4624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=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422648" y="4624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65523" y="46248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51273" y="4624864"/>
              <a:ext cx="1923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Pure virtual method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36523" y="51011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45" name="Rectangle 4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12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704364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C++ Implementation: Concrete Components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51435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51435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937256" y="1343978"/>
            <a:ext cx="7929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Espresso.h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946785" y="1688306"/>
            <a:ext cx="2856606" cy="2791778"/>
            <a:chOff x="946785" y="1688306"/>
            <a:chExt cx="2856606" cy="2791778"/>
          </a:xfrm>
        </p:grpSpPr>
        <p:sp>
          <p:nvSpPr>
            <p:cNvPr id="7" name="TextBox 7"/>
            <p:cNvSpPr txBox="1"/>
            <p:nvPr/>
          </p:nvSpPr>
          <p:spPr>
            <a:xfrm>
              <a:off x="946785" y="1688306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75410" y="1688306"/>
              <a:ext cx="712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Espresso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85035" y="1688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375535" y="1688306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47035" y="1688306"/>
              <a:ext cx="679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9035" y="1688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785" y="197405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285" y="2259806"/>
              <a:ext cx="679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Espresso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51660" y="2259806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 {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7785" y="2545556"/>
              <a:ext cx="9763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description =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66035" y="2545556"/>
              <a:ext cx="846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"Espresso"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75660" y="2545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7285" y="2831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7285" y="3307556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08785" y="33075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89785" y="33075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80285" y="3307556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18535" y="3307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27785" y="359330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9285" y="35933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1.99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80285" y="3593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37285" y="3879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785" y="42600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31" name="Rectangle 31"/>
          <p:cNvSpPr/>
          <p:nvPr/>
        </p:nvSpPr>
        <p:spPr>
          <a:xfrm>
            <a:off x="6286500" y="1238250"/>
            <a:ext cx="51435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6286500" y="1238250"/>
            <a:ext cx="51435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8420489" y="1343978"/>
            <a:ext cx="8755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DarkRoast.h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6471285" y="1688306"/>
            <a:ext cx="2904231" cy="2791778"/>
            <a:chOff x="6471285" y="1688306"/>
            <a:chExt cx="2904231" cy="2791778"/>
          </a:xfrm>
        </p:grpSpPr>
        <p:sp>
          <p:nvSpPr>
            <p:cNvPr id="34" name="TextBox 34"/>
            <p:cNvSpPr txBox="1"/>
            <p:nvPr/>
          </p:nvSpPr>
          <p:spPr>
            <a:xfrm>
              <a:off x="6471285" y="1688306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99910" y="1688306"/>
              <a:ext cx="8049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DarkRoast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57160" y="1688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47660" y="1688306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19160" y="1688306"/>
              <a:ext cx="679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81160" y="1688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71285" y="197405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1785" y="2259806"/>
              <a:ext cx="767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DarkRoast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71410" y="2259806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 {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52285" y="2545556"/>
              <a:ext cx="9763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description =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090535" y="2545556"/>
              <a:ext cx="980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"Dark Roast"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43035" y="2545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61785" y="2831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61785" y="3307556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233285" y="33075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14285" y="33075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4785" y="3307556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43035" y="3307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52285" y="359330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23785" y="35933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0.99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804785" y="3593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61785" y="3879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71285" y="42600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58" name="Rectangle 58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13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788909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C++ Implementation: Abstract Decorator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312158" y="1343978"/>
            <a:ext cx="15676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CondimentDecorator.h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36904" y="1727835"/>
            <a:ext cx="5953862" cy="3949446"/>
            <a:chOff x="1136904" y="1727835"/>
            <a:chExt cx="5953862" cy="3949446"/>
          </a:xfrm>
        </p:grpSpPr>
        <p:sp>
          <p:nvSpPr>
            <p:cNvPr id="7" name="TextBox 7"/>
            <p:cNvSpPr txBox="1"/>
            <p:nvPr/>
          </p:nvSpPr>
          <p:spPr>
            <a:xfrm>
              <a:off x="1136904" y="1727835"/>
              <a:ext cx="6422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#include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994154" y="1727835"/>
              <a:ext cx="1085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"Beverage.h"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6904" y="2156460"/>
              <a:ext cx="4160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60779" y="2156460"/>
              <a:ext cx="1693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CondimentDecorator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70529" y="21564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61029" y="2156460"/>
              <a:ext cx="4645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27779" y="2156460"/>
              <a:ext cx="7280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185029" y="21564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6904" y="2489835"/>
              <a:ext cx="9006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protected: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17904" y="2775585"/>
              <a:ext cx="8174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70404" y="277558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beverage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27654" y="27755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13404" y="2775585"/>
              <a:ext cx="20696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Wrapped object pointer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6904" y="325183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7904" y="3537585"/>
              <a:ext cx="16134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CondimentDecorator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27654" y="35375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422904" y="3537585"/>
              <a:ext cx="8174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75404" y="3537585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b) : beverage(b) {}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7904" y="401383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virtual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79904" y="4013835"/>
              <a:ext cx="2019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~CondimentDecorator() {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98904" y="4299585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delete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65654" y="429958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beverage;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13404" y="4299585"/>
              <a:ext cx="21182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Clean up wrapped object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17904" y="45853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17904" y="5061585"/>
              <a:ext cx="55728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>
                      <a:alphaMod val="70000"/>
                    </a:srgbClr>
                  </a:solidFill>
                  <a:latin typeface="Consolas"/>
                  <a:ea typeface="Consolas"/>
                  <a:cs typeface="Consolas"/>
                </a:rPr>
                <a:t>// All concrete decorators must override getDescription() and cost()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36904" y="54425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34" name="Rectangle 34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14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97533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C++ Implementation: Concrete Decorators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51435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51435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3113989" y="1343978"/>
            <a:ext cx="4395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Milk.h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947166" y="1648778"/>
            <a:ext cx="3231661" cy="3729609"/>
            <a:chOff x="947166" y="1648778"/>
            <a:chExt cx="3231661" cy="3729609"/>
          </a:xfrm>
        </p:grpSpPr>
        <p:sp>
          <p:nvSpPr>
            <p:cNvPr id="7" name="TextBox 7"/>
            <p:cNvSpPr txBox="1"/>
            <p:nvPr/>
          </p:nvSpPr>
          <p:spPr>
            <a:xfrm>
              <a:off x="947166" y="1648778"/>
              <a:ext cx="3640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75791" y="1648778"/>
              <a:ext cx="2966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Milk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04416" y="16487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994916" y="1648778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66416" y="1648778"/>
              <a:ext cx="14117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CondimentDecorator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90416" y="16487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7166" y="193452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666" y="2220278"/>
              <a:ext cx="283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Milk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8666" y="22202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13916" y="2220278"/>
              <a:ext cx="7153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75916" y="222027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8166" y="2506028"/>
              <a:ext cx="19658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 CondimentDecorator(b) {}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7666" y="2887028"/>
              <a:ext cx="830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std::string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185416" y="2887028"/>
              <a:ext cx="10325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getDescription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23666" y="28870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28166" y="3125152"/>
              <a:ext cx="10283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6416" y="3125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28166" y="3410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99666" y="3410902"/>
              <a:ext cx="19663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beverage-&gt;getDescription()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18666" y="36490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04416" y="3649028"/>
              <a:ext cx="562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", Milk"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71166" y="36490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37666" y="3887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7666" y="4268152"/>
              <a:ext cx="4417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09166" y="42681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90166" y="42681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280666" y="4268152"/>
              <a:ext cx="10283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518916" y="4268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28166" y="4553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99666" y="4553902"/>
              <a:ext cx="13747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beverage-&gt;cost() +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614166" y="45539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0.10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47541" y="455390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37666" y="48396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7166" y="51730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42" name="Rectangle 42"/>
          <p:cNvSpPr/>
          <p:nvPr/>
        </p:nvSpPr>
        <p:spPr>
          <a:xfrm>
            <a:off x="6286500" y="1238250"/>
            <a:ext cx="51435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6286500" y="1238250"/>
            <a:ext cx="51435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8563980" y="1343978"/>
            <a:ext cx="58854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Mocha.h</a:t>
            </a:r>
          </a:p>
        </p:txBody>
      </p:sp>
      <p:grpSp>
        <p:nvGrpSpPr>
          <p:cNvPr id="79" name="Group 79"/>
          <p:cNvGrpSpPr/>
          <p:nvPr/>
        </p:nvGrpSpPr>
        <p:grpSpPr>
          <a:xfrm>
            <a:off x="6471666" y="1648778"/>
            <a:ext cx="3279286" cy="3729609"/>
            <a:chOff x="6471666" y="1648778"/>
            <a:chExt cx="3279286" cy="3729609"/>
          </a:xfrm>
        </p:grpSpPr>
        <p:sp>
          <p:nvSpPr>
            <p:cNvPr id="45" name="TextBox 45"/>
            <p:cNvSpPr txBox="1"/>
            <p:nvPr/>
          </p:nvSpPr>
          <p:spPr>
            <a:xfrm>
              <a:off x="6471666" y="1648778"/>
              <a:ext cx="3640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00291" y="1648778"/>
              <a:ext cx="453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Mocha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76541" y="16487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67041" y="1648778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38541" y="1648778"/>
              <a:ext cx="14117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CondimentDecorator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662541" y="16487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71666" y="193452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62166" y="2220278"/>
              <a:ext cx="4323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Mocha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90791" y="22202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186041" y="2220278"/>
              <a:ext cx="7153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948041" y="222027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52666" y="2506028"/>
              <a:ext cx="19658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 CondimentDecorator(b) {}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662166" y="2887028"/>
              <a:ext cx="830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std::string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709916" y="2887028"/>
              <a:ext cx="10325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getDescription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948166" y="28870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52666" y="3125152"/>
              <a:ext cx="10283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090916" y="3125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852666" y="3410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424166" y="3410902"/>
              <a:ext cx="19663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beverage-&gt;getDescription()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43166" y="36490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+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328916" y="3649028"/>
              <a:ext cx="7111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", Mocha"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43291" y="36490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662166" y="3887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662166" y="4268152"/>
              <a:ext cx="4417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double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33666" y="42681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cost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614666" y="42681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05166" y="4268152"/>
              <a:ext cx="10283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const override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043416" y="42681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852666" y="4553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424166" y="4553902"/>
              <a:ext cx="13747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beverage-&gt;cost() +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138666" y="45539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0.20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472041" y="455390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662166" y="48396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471666" y="51730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80" name="Rectangle 80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15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1094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C++ Client Code Assembly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783228" y="1343978"/>
            <a:ext cx="62554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main.cpp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1136904" y="1727835"/>
            <a:ext cx="6529758" cy="3949446"/>
            <a:chOff x="1136904" y="1727835"/>
            <a:chExt cx="6529758" cy="3949446"/>
          </a:xfrm>
        </p:grpSpPr>
        <p:sp>
          <p:nvSpPr>
            <p:cNvPr id="7" name="TextBox 7"/>
            <p:cNvSpPr txBox="1"/>
            <p:nvPr/>
          </p:nvSpPr>
          <p:spPr>
            <a:xfrm>
              <a:off x="1136904" y="1727835"/>
              <a:ext cx="2383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70279" y="1727835"/>
              <a:ext cx="3595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main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51279" y="1727835"/>
              <a:ext cx="327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 {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17904" y="2108835"/>
              <a:ext cx="30831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1. Order a plain Dark Roast ($0.99)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17904" y="2394585"/>
              <a:ext cx="8174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70404" y="23945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b1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756154" y="23945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=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94279" y="239458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375279" y="2394585"/>
              <a:ext cx="8218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DarkRoast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32529" y="239458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();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17904" y="2680335"/>
              <a:ext cx="56675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>
                      <a:alphaMod val="70000"/>
                    </a:srgbClr>
                  </a:solidFill>
                  <a:latin typeface="Consolas"/>
                  <a:ea typeface="Consolas"/>
                  <a:cs typeface="Consolas"/>
                </a:rPr>
                <a:t>std::cout &lt;&lt; b1-&gt;getDescription() &lt;&lt; " $" &lt;&lt; b1-&gt;cost() &lt;&lt; std::endl;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17904" y="3156585"/>
              <a:ext cx="6148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2. Order Dark Roast with Double Mocha + Milk ($0.99 + 0.20 + 0.20 + 0.10)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7904" y="3442335"/>
              <a:ext cx="8174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Beverage*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70404" y="34423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b2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56154" y="34423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=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94279" y="344233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75279" y="3442335"/>
              <a:ext cx="8218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DarkRoast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32529" y="344233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();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7904" y="3823335"/>
              <a:ext cx="327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b2 =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94154" y="382333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375154" y="3823335"/>
              <a:ext cx="4941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Mocha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99029" y="382333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(b2);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65779" y="3823335"/>
              <a:ext cx="18758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Wrap with 1st Mocha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17904" y="4109085"/>
              <a:ext cx="327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b2 =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994154" y="410908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375154" y="4109085"/>
              <a:ext cx="4941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Mocha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899029" y="410908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(b2);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565779" y="4109085"/>
              <a:ext cx="19246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Wrap with 2nd Mocha!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7904" y="4394835"/>
              <a:ext cx="327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b2 =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94154" y="439483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375154" y="4394835"/>
              <a:ext cx="323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Milk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803779" y="439483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(b2);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65779" y="4394835"/>
              <a:ext cx="1390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Wrap with Milk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17904" y="4871085"/>
              <a:ext cx="56675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>
                      <a:alphaMod val="70000"/>
                    </a:srgbClr>
                  </a:solidFill>
                  <a:latin typeface="Consolas"/>
                  <a:ea typeface="Consolas"/>
                  <a:cs typeface="Consolas"/>
                </a:rPr>
                <a:t>std::cout &lt;&lt; b2-&gt;getDescription() &lt;&lt; " $" &lt;&lt; b2-&gt;cost() &lt;&lt; std::endl;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17904" y="5156835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delete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184654" y="515683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b1;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565654" y="5156835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delete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32404" y="515683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b2;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613404" y="515683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return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280154" y="5156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23029" y="5156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36904" y="54425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sp>
        <p:nvSpPr>
          <p:cNvPr id="50" name="Rectangle 50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16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33183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Object Wrapping Sequence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762000" y="1428750"/>
            <a:ext cx="3238500" cy="4572000"/>
            <a:chOff x="762000" y="1428750"/>
            <a:chExt cx="3238500" cy="4572000"/>
          </a:xfrm>
        </p:grpSpPr>
        <p:sp>
          <p:nvSpPr>
            <p:cNvPr id="4" name="Rectangle 4"/>
            <p:cNvSpPr/>
            <p:nvPr/>
          </p:nvSpPr>
          <p:spPr>
            <a:xfrm>
              <a:off x="762000" y="1428750"/>
              <a:ext cx="3238500" cy="4572000"/>
            </a:xfrm>
            <a:prstGeom prst="roundRect">
              <a:avLst>
                <a:gd name="adj" fmla="val 235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040130" y="1695450"/>
              <a:ext cx="2086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Step 1: Core Object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238250" y="2190750"/>
              <a:ext cx="2286000" cy="762000"/>
            </a:xfrm>
            <a:prstGeom prst="roundRect">
              <a:avLst>
                <a:gd name="adj" fmla="val 7500"/>
              </a:avLst>
            </a:prstGeom>
            <a:solidFill>
              <a:srgbClr val="1A1B2E"/>
            </a:solidFill>
            <a:ln w="14288">
              <a:solidFill>
                <a:srgbClr val="00D4A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896162" y="2473642"/>
              <a:ext cx="9701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DarkRoast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41654" y="3299460"/>
              <a:ext cx="20129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Base component created.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41654" y="3680460"/>
              <a:ext cx="14476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getDescription():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41654" y="3966210"/>
              <a:ext cx="1102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"Dark Roast"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1654" y="44424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cost():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0130" y="469582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$0.99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476750" y="1428750"/>
            <a:ext cx="3238500" cy="4572000"/>
            <a:chOff x="4476750" y="1428750"/>
            <a:chExt cx="3238500" cy="4572000"/>
          </a:xfrm>
        </p:grpSpPr>
        <p:sp>
          <p:nvSpPr>
            <p:cNvPr id="14" name="Rectangle 14"/>
            <p:cNvSpPr/>
            <p:nvPr/>
          </p:nvSpPr>
          <p:spPr>
            <a:xfrm>
              <a:off x="4476750" y="1428750"/>
              <a:ext cx="3238500" cy="4572000"/>
            </a:xfrm>
            <a:prstGeom prst="roundRect">
              <a:avLst>
                <a:gd name="adj" fmla="val 235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754880" y="1695450"/>
              <a:ext cx="2584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Step 2: Wrap with Mocha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62500" y="2095500"/>
              <a:ext cx="2667000" cy="1047750"/>
            </a:xfrm>
            <a:prstGeom prst="roundRect">
              <a:avLst>
                <a:gd name="adj" fmla="val 5455"/>
              </a:avLst>
            </a:prstGeom>
            <a:solidFill>
              <a:srgbClr val="1A1B2E"/>
            </a:solidFill>
            <a:ln w="14288">
              <a:solidFill>
                <a:srgbClr val="6C63F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388834" y="2204085"/>
              <a:ext cx="14143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Mocha Decorator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048250" y="2476500"/>
              <a:ext cx="2095500" cy="476250"/>
            </a:xfrm>
            <a:prstGeom prst="roundRect">
              <a:avLst>
                <a:gd name="adj" fmla="val 80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736422" y="2648902"/>
              <a:ext cx="7191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DarkRoast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56404" y="3299460"/>
              <a:ext cx="24118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Wrapped with Mocha (+ $0.20)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56404" y="3680460"/>
              <a:ext cx="14476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getDescription():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56404" y="3966210"/>
              <a:ext cx="17547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"Dark Roast, Mocha"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56404" y="44424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cost():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54880" y="469582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$1.19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191500" y="1428750"/>
            <a:ext cx="3238500" cy="4572000"/>
            <a:chOff x="8191500" y="1428750"/>
            <a:chExt cx="3238500" cy="4572000"/>
          </a:xfrm>
        </p:grpSpPr>
        <p:sp>
          <p:nvSpPr>
            <p:cNvPr id="26" name="Rectangle 26"/>
            <p:cNvSpPr/>
            <p:nvPr/>
          </p:nvSpPr>
          <p:spPr>
            <a:xfrm>
              <a:off x="8191500" y="1428750"/>
              <a:ext cx="3238500" cy="4572000"/>
            </a:xfrm>
            <a:prstGeom prst="roundRect">
              <a:avLst>
                <a:gd name="adj" fmla="val 235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469630" y="1695450"/>
              <a:ext cx="23615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Step 3: Wrap with Milk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82000" y="2047875"/>
              <a:ext cx="2857500" cy="1238250"/>
            </a:xfrm>
            <a:prstGeom prst="roundRect">
              <a:avLst>
                <a:gd name="adj" fmla="val 4615"/>
              </a:avLst>
            </a:prstGeom>
            <a:solidFill>
              <a:srgbClr val="1A1B2E"/>
            </a:solidFill>
            <a:ln w="14288">
              <a:solidFill>
                <a:srgbClr val="00D4A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234137" y="2116931"/>
              <a:ext cx="1153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Milk Decorator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572500" y="2333625"/>
              <a:ext cx="2476500" cy="809625"/>
            </a:xfrm>
            <a:prstGeom prst="roundRect">
              <a:avLst>
                <a:gd name="adj" fmla="val 4706"/>
              </a:avLst>
            </a:prstGeom>
            <a:solidFill>
              <a:srgbClr val="252640"/>
            </a:solidFill>
            <a:ln w="9525">
              <a:solidFill>
                <a:srgbClr val="6C63F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622147" y="2418874"/>
              <a:ext cx="23772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Mocha Decorator (wraps DarkRoast)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71154" y="3299460"/>
              <a:ext cx="2242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Wrapped with Milk (+ $0.10)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71154" y="3680460"/>
              <a:ext cx="14476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getDescription():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71535" y="3974306"/>
              <a:ext cx="20793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"Dark Roast, Mocha, Milk"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471154" y="44424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cost():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69630" y="469582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$1.29</a:t>
              </a:r>
            </a:p>
          </p:txBody>
        </p:sp>
      </p:grpSp>
      <p:sp>
        <p:nvSpPr>
          <p:cNvPr id="38" name="Rectangle 38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17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34384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Execution Flow &amp; Delegated Calls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2237267"/>
            <a:ext cx="4953000" cy="2764465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18 / 35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62000" y="1619250"/>
            <a:ext cx="5334000" cy="762000"/>
            <a:chOff x="762000" y="1619250"/>
            <a:chExt cx="5334000" cy="76200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6404" y="1775460"/>
              <a:ext cx="23259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1. Client calls whip-&gt;cost()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6785" y="2069306"/>
              <a:ext cx="3990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Whip adds $0.15 to whatever mocha-&gt;cost() returns.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2571750"/>
            <a:ext cx="5334000" cy="762000"/>
            <a:chOff x="762000" y="2571750"/>
            <a:chExt cx="5334000" cy="762000"/>
          </a:xfrm>
        </p:grpSpPr>
        <p:sp>
          <p:nvSpPr>
            <p:cNvPr id="11" name="Rectangle 11"/>
            <p:cNvSpPr/>
            <p:nvPr/>
          </p:nvSpPr>
          <p:spPr>
            <a:xfrm>
              <a:off x="762000" y="257175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6404" y="2727960"/>
              <a:ext cx="30045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2. Whip delegates to mocha-&gt;cost()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785" y="3021806"/>
              <a:ext cx="44192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Mocha adds $0.20 to whatever darkRoast-&gt;cost() returns.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62000" y="3524250"/>
            <a:ext cx="5334000" cy="762000"/>
            <a:chOff x="762000" y="3524250"/>
            <a:chExt cx="5334000" cy="762000"/>
          </a:xfrm>
        </p:grpSpPr>
        <p:sp>
          <p:nvSpPr>
            <p:cNvPr id="15" name="Rectangle 15"/>
            <p:cNvSpPr/>
            <p:nvPr/>
          </p:nvSpPr>
          <p:spPr>
            <a:xfrm>
              <a:off x="762000" y="352425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6404" y="3680460"/>
              <a:ext cx="34859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3. Mocha delegates to darkRoast-&gt;cost()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3974306"/>
              <a:ext cx="44383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DarkRoast (ConcreteComponent) returns base cost: $0.99.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62000" y="4476750"/>
            <a:ext cx="5334000" cy="762000"/>
            <a:chOff x="762000" y="4476750"/>
            <a:chExt cx="5334000" cy="762000"/>
          </a:xfrm>
        </p:grpSpPr>
        <p:sp>
          <p:nvSpPr>
            <p:cNvPr id="19" name="Rectangle 19"/>
            <p:cNvSpPr/>
            <p:nvPr/>
          </p:nvSpPr>
          <p:spPr>
            <a:xfrm>
              <a:off x="762000" y="447675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6404" y="4632960"/>
              <a:ext cx="32938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4. Return Stack: $0.99 → $1.19 → $1.34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4926806"/>
              <a:ext cx="3032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Total cost calculated dynamically: $1.34!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4380" y="1171575"/>
            <a:ext cx="444381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How cost() propagates through wrappers: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58757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Advantages of Decorator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00D4AA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762000" y="1238250"/>
            <a:ext cx="10668000" cy="4762500"/>
            <a:chOff x="762000" y="1238250"/>
            <a:chExt cx="10668000" cy="4762500"/>
          </a:xfrm>
        </p:grpSpPr>
        <p:grpSp>
          <p:nvGrpSpPr>
            <p:cNvPr id="9" name="Group 9"/>
            <p:cNvGrpSpPr/>
            <p:nvPr/>
          </p:nvGrpSpPr>
          <p:grpSpPr>
            <a:xfrm>
              <a:off x="762000" y="1238250"/>
              <a:ext cx="10668000" cy="1047750"/>
              <a:chOff x="762000" y="1238250"/>
              <a:chExt cx="10668000" cy="10477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238250"/>
                <a:ext cx="106680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5" name="Ellipse 5"/>
              <p:cNvSpPr/>
              <p:nvPr/>
            </p:nvSpPr>
            <p:spPr>
              <a:xfrm>
                <a:off x="1009650" y="1533525"/>
                <a:ext cx="457200" cy="457200"/>
              </a:xfrm>
              <a:prstGeom prst="ellipse">
                <a:avLst/>
              </a:prstGeom>
              <a:solidFill>
                <a:srgbClr val="00D4A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113253" y="1660208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✓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1706880" y="1504950"/>
                <a:ext cx="441900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Greater Flexibility than Static Inheritance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708404" y="1823085"/>
                <a:ext cx="789276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Responsibilities can be added and removed at runtime simply by attaching and detaching decorators.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762000" y="2476500"/>
              <a:ext cx="10668000" cy="1047750"/>
              <a:chOff x="762000" y="2476500"/>
              <a:chExt cx="10668000" cy="1047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62000" y="2476500"/>
                <a:ext cx="106680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1009650" y="2771775"/>
                <a:ext cx="457200" cy="457200"/>
              </a:xfrm>
              <a:prstGeom prst="ellipse">
                <a:avLst/>
              </a:prstGeom>
              <a:solidFill>
                <a:srgbClr val="00D4A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113253" y="2898458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✓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706880" y="2743200"/>
                <a:ext cx="536474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Avoids Feature-Laden Classes High Up the Hierarchy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708404" y="3061335"/>
                <a:ext cx="797366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Pay-as-you-go approach: define simple classes and add functionality incrementally with decorators.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62000" y="3714750"/>
              <a:ext cx="10668000" cy="1047750"/>
              <a:chOff x="762000" y="3714750"/>
              <a:chExt cx="10668000" cy="104775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62000" y="3714750"/>
                <a:ext cx="106680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1009650" y="4010025"/>
                <a:ext cx="457200" cy="457200"/>
              </a:xfrm>
              <a:prstGeom prst="ellipse">
                <a:avLst/>
              </a:prstGeom>
              <a:solidFill>
                <a:srgbClr val="00D4A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113253" y="4136708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✓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706880" y="3981450"/>
                <a:ext cx="546222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Adheres strictly to the Open-Closed Principle (OCP)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708404" y="4299585"/>
                <a:ext cx="718207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New features are added via new decorator classes without modifying existing components.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762000" y="4953000"/>
              <a:ext cx="10668000" cy="1047750"/>
              <a:chOff x="762000" y="4953000"/>
              <a:chExt cx="10668000" cy="1047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762000" y="4953000"/>
                <a:ext cx="106680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1009650" y="5248275"/>
                <a:ext cx="457200" cy="457200"/>
              </a:xfrm>
              <a:prstGeom prst="ellipse">
                <a:avLst/>
              </a:prstGeom>
              <a:solidFill>
                <a:srgbClr val="00D4A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113253" y="5374958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✓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706880" y="5219700"/>
                <a:ext cx="398773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Supports Mix-and-Match Combinations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708404" y="5537835"/>
                <a:ext cx="78600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Mix decorators in any order or repeat decorators (e.g., Double Whip, Double Mocha) effortlessly.</a:t>
                </a:r>
              </a:p>
            </p:txBody>
          </p:sp>
        </p:grpSp>
      </p:grpSp>
      <p:sp>
        <p:nvSpPr>
          <p:cNvPr id="29" name="Rectangle 29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19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06186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Disadvantages of Decorator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</p:sp>
      <p:grpSp>
        <p:nvGrpSpPr>
          <p:cNvPr id="25" name="Group 25"/>
          <p:cNvGrpSpPr/>
          <p:nvPr/>
        </p:nvGrpSpPr>
        <p:grpSpPr>
          <a:xfrm>
            <a:off x="762000" y="1238250"/>
            <a:ext cx="10668000" cy="4000500"/>
            <a:chOff x="762000" y="1238250"/>
            <a:chExt cx="10668000" cy="400050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238250"/>
              <a:ext cx="10668000" cy="1143000"/>
              <a:chOff x="762000" y="1238250"/>
              <a:chExt cx="10668000" cy="114300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238250"/>
                <a:ext cx="106680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5" name="Ellipse 5"/>
              <p:cNvSpPr/>
              <p:nvPr/>
            </p:nvSpPr>
            <p:spPr>
              <a:xfrm>
                <a:off x="1009650" y="1581150"/>
                <a:ext cx="457200" cy="457200"/>
              </a:xfrm>
              <a:prstGeom prst="ellipse">
                <a:avLst/>
              </a:prstGeom>
              <a:solidFill>
                <a:srgbClr val="FF6B6B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113253" y="1707832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FF6B6B"/>
                    </a:solidFill>
                    <a:latin typeface="Segoe UI"/>
                    <a:ea typeface="Segoe UI"/>
                    <a:cs typeface="Segoe UI"/>
                  </a:rPr>
                  <a:t>⚠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1706880" y="1504950"/>
                <a:ext cx="22518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Lots of Small Objects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708404" y="1823085"/>
                <a:ext cx="7260143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A design using Decorator often results in systems with many small, similar-looking objects.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709166" y="2058352"/>
                <a:ext cx="4899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Can be confusing for developers who are unfamiliar with the codebase.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762000" y="2667000"/>
              <a:ext cx="10668000" cy="1143000"/>
              <a:chOff x="762000" y="2667000"/>
              <a:chExt cx="10668000" cy="1143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762000" y="2667000"/>
                <a:ext cx="106680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1009650" y="3009900"/>
                <a:ext cx="457200" cy="457200"/>
              </a:xfrm>
              <a:prstGeom prst="ellipse">
                <a:avLst/>
              </a:prstGeom>
              <a:solidFill>
                <a:srgbClr val="FF6B6B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113253" y="3136582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FF6B6B"/>
                    </a:solidFill>
                    <a:latin typeface="Segoe UI"/>
                    <a:ea typeface="Segoe UI"/>
                    <a:cs typeface="Segoe UI"/>
                  </a:rPr>
                  <a:t>⚠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706880" y="2933700"/>
                <a:ext cx="274761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Complex Initialization Code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708404" y="3251835"/>
                <a:ext cx="633374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Instantiating a heavily decorated component requires nested constructor calls.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709166" y="3487102"/>
                <a:ext cx="47360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Mitigated by using Factory or Builder patterns alongside Decorator.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762000" y="4095750"/>
              <a:ext cx="10668000" cy="1143000"/>
              <a:chOff x="762000" y="4095750"/>
              <a:chExt cx="10668000" cy="11430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762000" y="4095750"/>
                <a:ext cx="106680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1009650" y="4438650"/>
                <a:ext cx="457200" cy="457200"/>
              </a:xfrm>
              <a:prstGeom prst="ellipse">
                <a:avLst/>
              </a:prstGeom>
              <a:solidFill>
                <a:srgbClr val="FF6B6B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113253" y="4565332"/>
                <a:ext cx="24999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650" b="1" dirty="0">
                    <a:solidFill>
                      <a:srgbClr val="FF6B6B"/>
                    </a:solidFill>
                    <a:latin typeface="Segoe UI"/>
                    <a:ea typeface="Segoe UI"/>
                    <a:cs typeface="Segoe UI"/>
                  </a:rPr>
                  <a:t>⚠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706880" y="4362450"/>
                <a:ext cx="272785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Component Identity Issues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708404" y="4680585"/>
                <a:ext cx="738408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A decorator acts as a transparent enclosure, but it is not identical to the component itself.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709166" y="4915852"/>
                <a:ext cx="639047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Code that relies on specific concrete types (rtti/dynamic_cast) will break when decorated.</a:t>
                </a:r>
              </a:p>
            </p:txBody>
          </p:sp>
        </p:grpSp>
      </p:grpSp>
      <p:sp>
        <p:nvSpPr>
          <p:cNvPr id="26" name="Rectangle 2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20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21045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When to Use Decorator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32" name="Group 32"/>
          <p:cNvGrpSpPr/>
          <p:nvPr/>
        </p:nvGrpSpPr>
        <p:grpSpPr>
          <a:xfrm>
            <a:off x="762000" y="1333500"/>
            <a:ext cx="10668000" cy="4667250"/>
            <a:chOff x="762000" y="1333500"/>
            <a:chExt cx="10668000" cy="466725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333500"/>
              <a:ext cx="5143500" cy="2190750"/>
              <a:chOff x="762000" y="1333500"/>
              <a:chExt cx="5143500" cy="21907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333500"/>
                <a:ext cx="5143500" cy="2190750"/>
              </a:xfrm>
              <a:prstGeom prst="roundRect">
                <a:avLst>
                  <a:gd name="adj" fmla="val 3478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1040130" y="1600200"/>
                <a:ext cx="29521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✔ Dynamic Behavior Addition</a:t>
                </a:r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1041654" y="2013585"/>
                <a:ext cx="319181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When you want to add responsibilities to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1041654" y="2251710"/>
                <a:ext cx="387309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individual objects dynamically and transparently,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041654" y="2489835"/>
                <a:ext cx="264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without affecting other objects.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042416" y="2934652"/>
                <a:ext cx="35492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Example: Adding scrolling or borders to a UI window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6286500" y="1333500"/>
              <a:ext cx="5143500" cy="2190750"/>
              <a:chOff x="6286500" y="1333500"/>
              <a:chExt cx="5143500" cy="21907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6286500" y="1333500"/>
                <a:ext cx="5143500" cy="2190750"/>
              </a:xfrm>
              <a:prstGeom prst="roundRect">
                <a:avLst>
                  <a:gd name="adj" fmla="val 3478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6564630" y="1600200"/>
                <a:ext cx="341073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✔ Withdrawal of Responsibilities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566154" y="2013585"/>
                <a:ext cx="308663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When responsibilities can be withdrawn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566154" y="2251710"/>
                <a:ext cx="286344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dynamically as needed by unwrapping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566154" y="2489835"/>
                <a:ext cx="13610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the object chain.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566916" y="2934652"/>
                <a:ext cx="389301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Example: Enabling/disabling encryption on a data stream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762000" y="3810000"/>
              <a:ext cx="5143500" cy="2190750"/>
              <a:chOff x="762000" y="3810000"/>
              <a:chExt cx="5143500" cy="21907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762000" y="3810000"/>
                <a:ext cx="5143500" cy="2190750"/>
              </a:xfrm>
              <a:prstGeom prst="roundRect">
                <a:avLst>
                  <a:gd name="adj" fmla="val 3478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040130" y="4076700"/>
                <a:ext cx="295500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✔ Subclassing is Impractical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41654" y="4490085"/>
                <a:ext cx="350660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When extension by subclassing is impractical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41654" y="4728210"/>
                <a:ext cx="360654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due to an explosion of independent extensions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041654" y="4966335"/>
                <a:ext cx="29199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producing a massive class hierarchy.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42416" y="5411152"/>
                <a:ext cx="396755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Example: GUI widget options (scrollbar, shadow, border)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286500" y="3810000"/>
              <a:ext cx="5143500" cy="2190750"/>
              <a:chOff x="6286500" y="3810000"/>
              <a:chExt cx="5143500" cy="219075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6286500" y="3810000"/>
                <a:ext cx="5143500" cy="2190750"/>
              </a:xfrm>
              <a:prstGeom prst="roundRect">
                <a:avLst>
                  <a:gd name="adj" fmla="val 3478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6564630" y="4076700"/>
                <a:ext cx="376535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✔ Class Definition is Hidden / Sealed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566154" y="4490085"/>
                <a:ext cx="36036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When a class definition is hidden or otherwise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566154" y="4728210"/>
                <a:ext cx="348538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unavailable for subclassing (e.g. final class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66154" y="4966335"/>
                <a:ext cx="248381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or third-party binary library).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66916" y="5411152"/>
                <a:ext cx="30527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808090"/>
                    </a:solidFill>
                    <a:latin typeface="Segoe UI"/>
                    <a:ea typeface="Segoe UI"/>
                    <a:cs typeface="Segoe UI"/>
                  </a:rPr>
                  <a:t>Example: Wrapping a 3rd party stream class</a:t>
                </a:r>
              </a:p>
            </p:txBody>
          </p:sp>
        </p:grpSp>
      </p:grpSp>
      <p:sp>
        <p:nvSpPr>
          <p:cNvPr id="33" name="Rectangle 33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21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887815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Related Pattern: Strategy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53618" y="1250632"/>
            <a:ext cx="5623384" cy="3820669"/>
            <a:chOff x="753618" y="1250632"/>
            <a:chExt cx="5623384" cy="3820669"/>
          </a:xfrm>
        </p:grpSpPr>
        <p:sp>
          <p:nvSpPr>
            <p:cNvPr id="4" name="TextBox 4"/>
            <p:cNvSpPr txBox="1"/>
            <p:nvPr/>
          </p:nvSpPr>
          <p:spPr>
            <a:xfrm>
              <a:off x="753618" y="1250632"/>
              <a:ext cx="31210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Interchangeable Algorithms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142" y="1711642"/>
              <a:ext cx="47510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The Strategy pattern defines a family of algorithms,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142" y="1997392"/>
              <a:ext cx="51455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encapsulates each one, and makes them </a:t>
              </a:r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interchangeable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762000" y="2571750"/>
              <a:ext cx="5143500" cy="1238250"/>
            </a:xfrm>
            <a:prstGeom prst="roundRect">
              <a:avLst>
                <a:gd name="adj" fmla="val 6154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0892" y="2807018"/>
              <a:ext cx="26193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💡 Core Difference in Intent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41654" y="3156585"/>
              <a:ext cx="32202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Strategy changes the </a:t>
              </a:r>
              <a:r>
                <a:rPr lang="en-US" sz="120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GUTS</a:t>
              </a:r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of an object.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41654" y="3442335"/>
              <a:ext cx="3266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Decorator changes the </a:t>
              </a:r>
              <a:r>
                <a:rPr lang="en-US" sz="1200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SKIN</a:t>
              </a:r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of an object.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5142" y="4045268"/>
              <a:ext cx="559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Strategy lets the algorithm vary independently from clients.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5142" y="4426268"/>
              <a:ext cx="55148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Objects hold a reference to a Strategy object and delegate.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4807268"/>
              <a:ext cx="56218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Example: Payment strategies (Credit Card, PayPal, Crypto).</a:t>
              </a:r>
            </a:p>
          </p:txBody>
        </p:sp>
      </p:grpSp>
      <p:pic>
        <p:nvPicPr>
          <p:cNvPr id="15" name="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33500"/>
            <a:ext cx="4572000" cy="4572000"/>
          </a:xfrm>
          <a:prstGeom prst="rect">
            <a:avLst/>
          </a:prstGeom>
        </p:spPr>
      </p:pic>
      <p:sp>
        <p:nvSpPr>
          <p:cNvPr id="16" name="Rectangle 1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22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88943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Strategy Pattern Structure &amp; Code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351018" y="1343978"/>
            <a:ext cx="14899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StrategyExample.cpp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1137285" y="1688306"/>
            <a:ext cx="5541929" cy="3934778"/>
            <a:chOff x="1137285" y="1688306"/>
            <a:chExt cx="5541929" cy="3934778"/>
          </a:xfrm>
        </p:grpSpPr>
        <p:sp>
          <p:nvSpPr>
            <p:cNvPr id="7" name="TextBox 7"/>
            <p:cNvSpPr txBox="1"/>
            <p:nvPr/>
          </p:nvSpPr>
          <p:spPr>
            <a:xfrm>
              <a:off x="1137285" y="1688306"/>
              <a:ext cx="1863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1. Strategy Interface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37285" y="1926431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61160" y="1926431"/>
              <a:ext cx="1359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PaymentStrategy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89910" y="1926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7285" y="216455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27785" y="2402681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virtual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89785" y="2402681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void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566035" y="240268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pay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99410" y="24026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94660" y="2402681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int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28035" y="2402681"/>
              <a:ext cx="7502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amount) =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80535" y="24026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FF6B6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23410" y="24026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;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7285" y="26408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37285" y="3021806"/>
              <a:ext cx="1945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2. Concrete Strategies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7285" y="3259931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61160" y="3259931"/>
              <a:ext cx="1065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CreditCardPay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99410" y="32599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9910" y="3259931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61410" y="3259931"/>
              <a:ext cx="12950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PaymentStrategy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90160" y="3259931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 ... };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37285" y="3640931"/>
              <a:ext cx="15627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3. Context Object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37285" y="3879056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61160" y="3879056"/>
              <a:ext cx="10262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ShoppingCart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99410" y="3879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37285" y="4117181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private: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7785" y="4355306"/>
              <a:ext cx="21705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PaymentStrategy* strategy;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37285" y="4593431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8285" y="4831556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void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46910" y="4831556"/>
              <a:ext cx="15438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setPaymentStrategy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66160" y="4831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661410" y="4831556"/>
              <a:ext cx="1507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PaymentStrategy* 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80660" y="4831556"/>
              <a:ext cx="139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) { strategy = s; }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18285" y="5117306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void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946910" y="51173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checkout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04160" y="5117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899410" y="511730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int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32785" y="5117306"/>
              <a:ext cx="22805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amt) { strategy-&gt;pay(amt); }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37285" y="54030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47" name="Rectangle 47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23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98304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Decorator vs. Strategy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32" name="Group 32"/>
          <p:cNvGrpSpPr/>
          <p:nvPr/>
        </p:nvGrpSpPr>
        <p:grpSpPr>
          <a:xfrm>
            <a:off x="762000" y="1238250"/>
            <a:ext cx="10668000" cy="4381500"/>
            <a:chOff x="762000" y="1238250"/>
            <a:chExt cx="10668000" cy="4381500"/>
          </a:xfrm>
        </p:grpSpPr>
        <p:sp>
          <p:nvSpPr>
            <p:cNvPr id="4" name="Rectangle 4"/>
            <p:cNvSpPr/>
            <p:nvPr/>
          </p:nvSpPr>
          <p:spPr>
            <a:xfrm>
              <a:off x="762000" y="1238250"/>
              <a:ext cx="10668000" cy="571500"/>
            </a:xfrm>
            <a:prstGeom prst="roundRect">
              <a:avLst>
                <a:gd name="adj" fmla="val 10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183892" y="1454468"/>
              <a:ext cx="7543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Feature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17642" y="1454468"/>
              <a:ext cx="17625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Decorator Pattern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137142" y="1454468"/>
              <a:ext cx="16575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Strategy Pattern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905000"/>
              <a:ext cx="10668000" cy="857250"/>
            </a:xfrm>
            <a:prstGeom prst="roundRect">
              <a:avLst>
                <a:gd name="adj" fmla="val 4444"/>
              </a:avLst>
            </a:prstGeom>
            <a:solidFill>
              <a:srgbClr val="161B2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41654" y="2251710"/>
              <a:ext cx="5344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Intent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4285" y="2164556"/>
              <a:ext cx="24585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Adds responsibilities to an object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285" y="2374106"/>
              <a:ext cx="24313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dynamically ("changes the skin")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23785" y="2164556"/>
              <a:ext cx="2187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Encapsulates interchangeable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23785" y="237410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algorithms ("changes the guts")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857500"/>
              <a:ext cx="10668000" cy="857250"/>
            </a:xfrm>
            <a:prstGeom prst="roundRect">
              <a:avLst>
                <a:gd name="adj" fmla="val 4444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41654" y="3204210"/>
              <a:ext cx="8144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Interface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04285" y="3117056"/>
              <a:ext cx="27831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Decorator implements the exact same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04285" y="3326606"/>
              <a:ext cx="20468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interface as the component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785" y="3117056"/>
              <a:ext cx="26472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Strategy interface is distinct from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3785" y="3326606"/>
              <a:ext cx="1395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the Context object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10000"/>
              <a:ext cx="10668000" cy="857250"/>
            </a:xfrm>
            <a:prstGeom prst="roundRect">
              <a:avLst>
                <a:gd name="adj" fmla="val 4444"/>
              </a:avLst>
            </a:prstGeom>
            <a:solidFill>
              <a:srgbClr val="161B2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41654" y="4156710"/>
              <a:ext cx="992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Composition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4285" y="4069556"/>
              <a:ext cx="2893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Recursive nesting: Decorator can wrap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04285" y="4279106"/>
              <a:ext cx="211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another Decorator infinitely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23785" y="4069556"/>
              <a:ext cx="2373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Single delegation: Context holds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23785" y="4279106"/>
              <a:ext cx="16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one Strategy instance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762500"/>
              <a:ext cx="10668000" cy="857250"/>
            </a:xfrm>
            <a:prstGeom prst="roundRect">
              <a:avLst>
                <a:gd name="adj" fmla="val 4444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1654" y="5109210"/>
              <a:ext cx="8912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Awareness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04285" y="5022056"/>
              <a:ext cx="26625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Component is completely unaware of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04285" y="5231606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being decorated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23785" y="5022056"/>
              <a:ext cx="25546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Context knows about Strategy and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23785" y="5231606"/>
              <a:ext cx="14513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explicitly invokes it</a:t>
              </a:r>
            </a:p>
          </p:txBody>
        </p:sp>
      </p:grpSp>
      <p:sp>
        <p:nvSpPr>
          <p:cNvPr id="33" name="Rectangle 33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24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50276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Strategy Pattern Summary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333500"/>
            <a:ext cx="10668000" cy="4572000"/>
            <a:chOff x="762000" y="1333500"/>
            <a:chExt cx="10668000" cy="4572000"/>
          </a:xfrm>
        </p:grpSpPr>
        <p:sp>
          <p:nvSpPr>
            <p:cNvPr id="4" name="Rectangle 4"/>
            <p:cNvSpPr/>
            <p:nvPr/>
          </p:nvSpPr>
          <p:spPr>
            <a:xfrm>
              <a:off x="762000" y="1333500"/>
              <a:ext cx="10668000" cy="4572000"/>
            </a:xfrm>
            <a:prstGeom prst="roundRect">
              <a:avLst>
                <a:gd name="adj" fmla="val 208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229868" y="1726882"/>
              <a:ext cx="18177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Key Takeaways: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231392" y="2235518"/>
              <a:ext cx="25284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1. Encapsulate what varies: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17904" y="2537460"/>
              <a:ext cx="48556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Isolate different algorithms into separate strategy classes.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31392" y="2997518"/>
              <a:ext cx="35039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2. Favor Composition over Inheritance: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17904" y="3299460"/>
              <a:ext cx="69557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Context delegates behavior to a strategy object rather than inheriting implementation.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31392" y="3759518"/>
              <a:ext cx="19979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3. Runtime Flexibility: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17904" y="4061460"/>
              <a:ext cx="81433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Strategies can be swapped dynamically while the program is running (e.g. changing sorting algorithm).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31392" y="4521518"/>
              <a:ext cx="2635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4. Synergies with Decorator: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17904" y="4823460"/>
              <a:ext cx="79896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 strategy can be wrapped inside a decorator to combine interchangeable logic with layered behavior!</a:t>
              </a:r>
            </a:p>
          </p:txBody>
        </p:sp>
      </p:grpSp>
      <p:sp>
        <p:nvSpPr>
          <p:cNvPr id="15" name="Rectangle 1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25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51488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Related Pattern: Facade Pattern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53618" y="1250632"/>
            <a:ext cx="6355262" cy="3820669"/>
            <a:chOff x="753618" y="1250632"/>
            <a:chExt cx="6355262" cy="3820669"/>
          </a:xfrm>
        </p:grpSpPr>
        <p:sp>
          <p:nvSpPr>
            <p:cNvPr id="4" name="TextBox 4"/>
            <p:cNvSpPr txBox="1"/>
            <p:nvPr/>
          </p:nvSpPr>
          <p:spPr>
            <a:xfrm>
              <a:off x="753618" y="1250632"/>
              <a:ext cx="40268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Simplified Interface to Subsystems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142" y="1711642"/>
              <a:ext cx="3917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Provides a unified, simplified interface to a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5142" y="1997392"/>
              <a:ext cx="38224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complex set of interfaces in a </a:t>
              </a:r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subsystem</a:t>
              </a: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762000" y="2571750"/>
              <a:ext cx="5143500" cy="1238250"/>
            </a:xfrm>
            <a:prstGeom prst="roundRect">
              <a:avLst>
                <a:gd name="adj" fmla="val 6154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0892" y="2807018"/>
              <a:ext cx="26193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💡 Core Difference in Intent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41654" y="3156585"/>
              <a:ext cx="2655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Facade </a:t>
              </a:r>
              <a:r>
                <a:rPr lang="en-US" sz="120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SIMPLIFIES</a:t>
              </a:r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the interface.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41654" y="3442335"/>
              <a:ext cx="43013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Decorator </a:t>
              </a:r>
              <a:r>
                <a:rPr lang="en-US" sz="1200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EXTENDS</a:t>
              </a:r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 xml:space="preserve"> the interface without changing it.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5142" y="4045268"/>
              <a:ext cx="63537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Defines a higher-level interface that makes subsystem easier to use.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5142" y="4426268"/>
              <a:ext cx="56901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Hides complex internal inter-module dependencies from client.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4807268"/>
              <a:ext cx="50208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rgbClr val="C0C0D0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Example: One-button HomeTheater.watchMovie() API.</a:t>
              </a:r>
            </a:p>
          </p:txBody>
        </p:sp>
      </p:grpSp>
      <p:pic>
        <p:nvPicPr>
          <p:cNvPr id="15" name="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33500"/>
            <a:ext cx="4572000" cy="4572000"/>
          </a:xfrm>
          <a:prstGeom prst="rect">
            <a:avLst/>
          </a:prstGeom>
        </p:spPr>
      </p:pic>
      <p:sp>
        <p:nvSpPr>
          <p:cNvPr id="16" name="Rectangle 1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26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51664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Facade Pattern Structure &amp; Code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1238250"/>
            <a:ext cx="10668000" cy="4762500"/>
          </a:xfrm>
          <a:prstGeom prst="roundRect">
            <a:avLst>
              <a:gd name="adj" fmla="val 1600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62000" y="123825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253178" y="1343978"/>
            <a:ext cx="168564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HomeTheaterFacade.cpp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137285" y="1688306"/>
            <a:ext cx="6169248" cy="3887153"/>
            <a:chOff x="1137285" y="1688306"/>
            <a:chExt cx="6169248" cy="3887153"/>
          </a:xfrm>
        </p:grpSpPr>
        <p:sp>
          <p:nvSpPr>
            <p:cNvPr id="7" name="TextBox 7"/>
            <p:cNvSpPr txBox="1"/>
            <p:nvPr/>
          </p:nvSpPr>
          <p:spPr>
            <a:xfrm>
              <a:off x="1137285" y="1688306"/>
              <a:ext cx="562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Subsystem components (Amplifier, Tuner, DvdPlayer, Projector, Lights)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37285" y="1926431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class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61160" y="1926431"/>
              <a:ext cx="15384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HomeTheaterFacade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75660" y="1926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{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7285" y="2164556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private: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27785" y="2402681"/>
              <a:ext cx="53887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Amplifier* amp; DvdPlayer* dvd; Projector* proj; TheaterLights* lights;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7285" y="2736056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public: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27785" y="2974181"/>
              <a:ext cx="5978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HomeTheaterFacade(Amplifier* a, DvdPlayer* d, Projector* p, TheaterLights* l)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8285" y="3212306"/>
              <a:ext cx="2936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: amp(a), dvd(d), proj(p), lights(l) {}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7785" y="3593306"/>
              <a:ext cx="3831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One simple method hides complex multi-step calls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27785" y="3831431"/>
              <a:ext cx="305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void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56410" y="3831431"/>
              <a:ext cx="868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watchMovie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08910" y="3831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804160" y="3831431"/>
              <a:ext cx="8859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std::string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51910" y="3831431"/>
              <a:ext cx="6296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movie) {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18285" y="4069556"/>
              <a:ext cx="1255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lights-&gt;dim(10);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18285" y="4307681"/>
              <a:ext cx="28366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proj-&gt;on(); proj-&gt;wideScreenMode();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18285" y="4545806"/>
              <a:ext cx="4518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amp-&gt;on(); amp-&gt;setSurroundSound(); amp-&gt;setVolume(5);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8285" y="4783931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dvd-&gt;on(); dvd-&gt;play(movie);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27785" y="5022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37285" y="53554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sp>
        <p:nvSpPr>
          <p:cNvPr id="29" name="Rectangle 29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27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361015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Decorator vs. Facade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32" name="Group 32"/>
          <p:cNvGrpSpPr/>
          <p:nvPr/>
        </p:nvGrpSpPr>
        <p:grpSpPr>
          <a:xfrm>
            <a:off x="762000" y="1333500"/>
            <a:ext cx="10668000" cy="4572000"/>
            <a:chOff x="762000" y="1333500"/>
            <a:chExt cx="10668000" cy="4572000"/>
          </a:xfrm>
        </p:grpSpPr>
        <p:grpSp>
          <p:nvGrpSpPr>
            <p:cNvPr id="17" name="Group 17"/>
            <p:cNvGrpSpPr/>
            <p:nvPr/>
          </p:nvGrpSpPr>
          <p:grpSpPr>
            <a:xfrm>
              <a:off x="762000" y="1333500"/>
              <a:ext cx="5143500" cy="4572000"/>
              <a:chOff x="762000" y="1333500"/>
              <a:chExt cx="5143500" cy="457200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333500"/>
                <a:ext cx="5143500" cy="4572000"/>
              </a:xfrm>
              <a:prstGeom prst="roundRect">
                <a:avLst>
                  <a:gd name="adj" fmla="val 208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5" name="Rectangle 5"/>
              <p:cNvSpPr/>
              <p:nvPr/>
            </p:nvSpPr>
            <p:spPr>
              <a:xfrm>
                <a:off x="762000" y="1333500"/>
                <a:ext cx="51435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00D4AA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133856" y="1615440"/>
                <a:ext cx="234999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Decorator Pattern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1136142" y="2140268"/>
                <a:ext cx="164883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Primary Purpose: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136904" y="2442210"/>
                <a:ext cx="383823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Adds or enhances responsibilities of an object.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136904" y="2727960"/>
                <a:ext cx="338599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Does NOT alter the underlying interface.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136142" y="3188018"/>
                <a:ext cx="220083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Interface Relationship: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36904" y="3489960"/>
                <a:ext cx="324094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Same interface as wrapped component.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36904" y="3775710"/>
                <a:ext cx="390322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Client is unaware of decoration (transparent).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36142" y="4235768"/>
                <a:ext cx="193545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Nesting &amp; Recursion: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36904" y="4537710"/>
                <a:ext cx="32326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Highly recursive — decorators can wrap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136904" y="4775835"/>
                <a:ext cx="229804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other decorators in a stack.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36904" y="5299710"/>
                <a:ext cx="331161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i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Motto: "Same interface, extra behavior"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286500" y="1333500"/>
              <a:ext cx="5143500" cy="4572000"/>
              <a:chOff x="6286500" y="1333500"/>
              <a:chExt cx="5143500" cy="45720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333500"/>
                <a:ext cx="5143500" cy="4572000"/>
              </a:xfrm>
              <a:prstGeom prst="roundRect">
                <a:avLst>
                  <a:gd name="adj" fmla="val 2083"/>
                </a:avLst>
              </a:prstGeom>
              <a:solidFill>
                <a:srgbClr val="252640"/>
              </a:solidFill>
              <a:ln>
                <a:noFill/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6286500" y="1333500"/>
                <a:ext cx="51435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6C63FF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6658356" y="1615440"/>
                <a:ext cx="19303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6C63FF"/>
                    </a:solidFill>
                    <a:latin typeface="Segoe UI"/>
                    <a:ea typeface="Segoe UI"/>
                    <a:cs typeface="Segoe UI"/>
                  </a:rPr>
                  <a:t>Facade Pattern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660642" y="2140268"/>
                <a:ext cx="164883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Primary Purpose: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661404" y="2442210"/>
                <a:ext cx="345065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Simplifies access to an entire subsystem.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661404" y="2727960"/>
                <a:ext cx="287843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Creates a NEW, simpler interface.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660642" y="3188018"/>
                <a:ext cx="220083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Interface Relationship: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661404" y="3489960"/>
                <a:ext cx="282089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Brand new, convenient interface.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661404" y="3775710"/>
                <a:ext cx="344228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Client interacts only with the facade API.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660642" y="4235768"/>
                <a:ext cx="193545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Nesting &amp; Recursion: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661404" y="4537710"/>
                <a:ext cx="337023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40" indent="-129540">
                  <a:buClr>
                    <a:srgbClr val="C0C0D0"/>
                  </a:buClr>
                  <a:buSzTx/>
                  <a:buFontTx/>
                  <a:buChar char="•"/>
                </a:pPr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Non-recursive — acts as a single gateway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661404" y="4775835"/>
                <a:ext cx="331576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to multiple underlying subsystem objects.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661404" y="5299710"/>
                <a:ext cx="3214726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i="1" dirty="0">
                    <a:solidFill>
                      <a:srgbClr val="6C63FF"/>
                    </a:solidFill>
                    <a:latin typeface="Segoe UI"/>
                    <a:ea typeface="Segoe UI"/>
                    <a:cs typeface="Segoe UI"/>
                  </a:rPr>
                  <a:t>Motto: "New interface, simpler access"</a:t>
                </a:r>
              </a:p>
            </p:txBody>
          </p:sp>
        </p:grpSp>
      </p:grpSp>
      <p:sp>
        <p:nvSpPr>
          <p:cNvPr id="33" name="Rectangle 33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28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12985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Facade Pattern Summary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333500"/>
            <a:ext cx="10668000" cy="4572000"/>
            <a:chOff x="762000" y="1333500"/>
            <a:chExt cx="10668000" cy="4572000"/>
          </a:xfrm>
        </p:grpSpPr>
        <p:sp>
          <p:nvSpPr>
            <p:cNvPr id="4" name="Rectangle 4"/>
            <p:cNvSpPr/>
            <p:nvPr/>
          </p:nvSpPr>
          <p:spPr>
            <a:xfrm>
              <a:off x="762000" y="1333500"/>
              <a:ext cx="10668000" cy="4572000"/>
            </a:xfrm>
            <a:prstGeom prst="roundRect">
              <a:avLst>
                <a:gd name="adj" fmla="val 208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229868" y="1726882"/>
              <a:ext cx="18177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Key Takeaways: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231392" y="2235518"/>
              <a:ext cx="45552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1. Principle of Least Knowledge (Law of Demeter):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17904" y="2537460"/>
              <a:ext cx="76559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Talk only to your immediate friends. Facade reduces client dependencies on complex subsystems.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31392" y="2997518"/>
              <a:ext cx="338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2. Decouples Subsystem from Clients: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17904" y="3299460"/>
              <a:ext cx="73679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Clients don't need to know how subsystem classes work together or manage their lifecycles.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31392" y="3759518"/>
              <a:ext cx="32241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3. Does NOT Prevent Direct Access: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17904" y="4061460"/>
              <a:ext cx="9847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Facade provides a convenient interface for general tasks, but advanced clients can still access subsystem classes directly.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31392" y="4521518"/>
              <a:ext cx="20810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4. Combining Patterns: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17904" y="4823460"/>
              <a:ext cx="83878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 Facade can use Decorators internally to dynamically configure subsystem components before invocation!</a:t>
              </a:r>
            </a:p>
          </p:txBody>
        </p:sp>
      </p:grpSp>
      <p:sp>
        <p:nvSpPr>
          <p:cNvPr id="15" name="Rectangle 1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29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907213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Pattern Comparison: Decorator vs Strategy vs Facade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755142" y="1187768"/>
            <a:ext cx="7143916" cy="264033"/>
            <a:chOff x="755142" y="1187768"/>
            <a:chExt cx="7143916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755142" y="1187768"/>
              <a:ext cx="71439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Three structural &amp; behavioral patterns working together to manage complexity:</a:t>
              </a:r>
            </a:p>
          </p:txBody>
        </p:sp>
      </p:grp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844" y="1619250"/>
            <a:ext cx="5802312" cy="323850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30 / 35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62000" y="5048250"/>
            <a:ext cx="3333750" cy="857250"/>
            <a:chOff x="762000" y="5048250"/>
            <a:chExt cx="3333750" cy="857250"/>
          </a:xfrm>
        </p:grpSpPr>
        <p:sp>
          <p:nvSpPr>
            <p:cNvPr id="9" name="Rectangle 9"/>
            <p:cNvSpPr/>
            <p:nvPr/>
          </p:nvSpPr>
          <p:spPr>
            <a:xfrm>
              <a:off x="762000" y="5048250"/>
              <a:ext cx="3333750" cy="857250"/>
            </a:xfrm>
            <a:prstGeom prst="roundRect">
              <a:avLst>
                <a:gd name="adj" fmla="val 6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5642" y="5207318"/>
              <a:ext cx="964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Decorator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7166" y="5506402"/>
              <a:ext cx="20084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Wraps object to add behavior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7547" y="5685949"/>
              <a:ext cx="21977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Same interface, layered features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429125" y="5048250"/>
            <a:ext cx="3333750" cy="857250"/>
            <a:chOff x="4429125" y="5048250"/>
            <a:chExt cx="3333750" cy="857250"/>
          </a:xfrm>
        </p:grpSpPr>
        <p:sp>
          <p:nvSpPr>
            <p:cNvPr id="14" name="Rectangle 14"/>
            <p:cNvSpPr/>
            <p:nvPr/>
          </p:nvSpPr>
          <p:spPr>
            <a:xfrm>
              <a:off x="4429125" y="5048250"/>
              <a:ext cx="3333750" cy="857250"/>
            </a:xfrm>
            <a:prstGeom prst="roundRect">
              <a:avLst>
                <a:gd name="adj" fmla="val 6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12767" y="5207318"/>
              <a:ext cx="6493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Facade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14291" y="5506402"/>
              <a:ext cx="19232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Simplifies entire subsystem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14672" y="5685949"/>
              <a:ext cx="15772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New simplified interface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96250" y="5048250"/>
            <a:ext cx="3333750" cy="857250"/>
            <a:chOff x="8096250" y="5048250"/>
            <a:chExt cx="3333750" cy="857250"/>
          </a:xfrm>
        </p:grpSpPr>
        <p:sp>
          <p:nvSpPr>
            <p:cNvPr id="19" name="Rectangle 19"/>
            <p:cNvSpPr/>
            <p:nvPr/>
          </p:nvSpPr>
          <p:spPr>
            <a:xfrm>
              <a:off x="8096250" y="5048250"/>
              <a:ext cx="3333750" cy="857250"/>
            </a:xfrm>
            <a:prstGeom prst="roundRect">
              <a:avLst>
                <a:gd name="adj" fmla="val 6667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79892" y="5207318"/>
              <a:ext cx="8592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Strategy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81416" y="5506402"/>
              <a:ext cx="2029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Swaps algorithms dynamically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81797" y="5685949"/>
              <a:ext cx="20455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Interchangeable implementation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408189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Real-world Example: Java I/O Streams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5142" y="1092518"/>
            <a:ext cx="723012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 xml:space="preserve">Java's </a:t>
            </a:r>
            <a:r>
              <a:rPr lang="en-US" sz="135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java.io</a:t>
            </a:r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 xml:space="preserve"> package is the textbook implementation of the Decorator Pattern!</a:t>
            </a:r>
          </a:p>
        </p:txBody>
      </p:sp>
      <p:sp>
        <p:nvSpPr>
          <p:cNvPr id="5" name="Rectangle 5"/>
          <p:cNvSpPr/>
          <p:nvPr/>
        </p:nvSpPr>
        <p:spPr>
          <a:xfrm>
            <a:off x="762000" y="1524000"/>
            <a:ext cx="10668000" cy="2476500"/>
          </a:xfrm>
          <a:prstGeom prst="roundRect">
            <a:avLst>
              <a:gd name="adj" fmla="val 3077"/>
            </a:avLst>
          </a:prstGeom>
          <a:solidFill>
            <a:srgbClr val="0D1117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762000" y="1524000"/>
            <a:ext cx="10668000" cy="333375"/>
          </a:xfrm>
          <a:prstGeom prst="roundRect">
            <a:avLst>
              <a:gd name="adj" fmla="val 22857"/>
            </a:avLst>
          </a:prstGeom>
          <a:solidFill>
            <a:srgbClr val="161B22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406726" y="1629728"/>
            <a:ext cx="13785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Consolas"/>
                <a:ea typeface="Consolas"/>
                <a:cs typeface="Consolas"/>
              </a:rPr>
              <a:t>JavaIOExample.java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137285" y="2021681"/>
            <a:ext cx="6847895" cy="1791653"/>
            <a:chOff x="1137285" y="2021681"/>
            <a:chExt cx="6847895" cy="1791653"/>
          </a:xfrm>
        </p:grpSpPr>
        <p:sp>
          <p:nvSpPr>
            <p:cNvPr id="8" name="TextBox 8"/>
            <p:cNvSpPr txBox="1"/>
            <p:nvPr/>
          </p:nvSpPr>
          <p:spPr>
            <a:xfrm>
              <a:off x="1137285" y="2021681"/>
              <a:ext cx="3645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Combining File + Buffered + GZIP input streams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7285" y="2307431"/>
              <a:ext cx="9253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InputStream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9785" y="2307431"/>
              <a:ext cx="267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8E8F0"/>
                  </a:solidFill>
                  <a:latin typeface="Consolas"/>
                  <a:ea typeface="Consolas"/>
                  <a:cs typeface="Consolas"/>
                </a:rPr>
                <a:t>in =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7785" y="264080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8785" y="2640806"/>
              <a:ext cx="1237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GZIPInputStream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2285" y="26408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5285" y="2640806"/>
              <a:ext cx="2639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Decorator 2: Decompresses data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8785" y="297418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89785" y="2974181"/>
              <a:ext cx="15934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BufferedInputStream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04285" y="29741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85285" y="2974181"/>
              <a:ext cx="2322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Decorator 1: Adds buffering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89785" y="330755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6C63FF"/>
                  </a:solidFill>
                  <a:latin typeface="Consolas"/>
                  <a:ea typeface="Consolas"/>
                  <a:cs typeface="Consolas"/>
                </a:rPr>
                <a:t>new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70785" y="3307556"/>
              <a:ext cx="1185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FileInputStream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04285" y="3307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(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3307556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00D4AA"/>
                  </a:solidFill>
                  <a:latin typeface="Consolas"/>
                  <a:ea typeface="Consolas"/>
                  <a:cs typeface="Consolas"/>
                </a:rPr>
                <a:t>"data.txt.gz"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37785" y="3307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23535" y="3307556"/>
              <a:ext cx="2561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08090"/>
                  </a:solidFill>
                  <a:latin typeface="Consolas"/>
                  <a:ea typeface="Consolas"/>
                  <a:cs typeface="Consolas"/>
                </a:rPr>
                <a:t>// Base Component: Reads raw file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08785" y="35933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Consolas"/>
                  <a:ea typeface="Consolas"/>
                  <a:cs typeface="Consolas"/>
                </a:rPr>
                <a:t>));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762000" y="4191000"/>
            <a:ext cx="10668000" cy="1905000"/>
            <a:chOff x="762000" y="4191000"/>
            <a:chExt cx="10668000" cy="1905000"/>
          </a:xfrm>
        </p:grpSpPr>
        <p:sp>
          <p:nvSpPr>
            <p:cNvPr id="27" name="Rectangle 27"/>
            <p:cNvSpPr/>
            <p:nvPr/>
          </p:nvSpPr>
          <p:spPr>
            <a:xfrm>
              <a:off x="762000" y="4191000"/>
              <a:ext cx="3333750" cy="1905000"/>
            </a:xfrm>
            <a:prstGeom prst="roundRect">
              <a:avLst>
                <a:gd name="adj" fmla="val 4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93267" y="4426268"/>
              <a:ext cx="14996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FileInputStream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94410" y="4736306"/>
              <a:ext cx="1460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ConcreteComponent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4791" y="5125402"/>
              <a:ext cx="18954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Reads bytes from disk file.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4791" y="5411152"/>
              <a:ext cx="18546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Provides base InputStream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4791" y="5649278"/>
              <a:ext cx="9930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functionality.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429125" y="4191000"/>
              <a:ext cx="3333750" cy="1905000"/>
            </a:xfrm>
            <a:prstGeom prst="roundRect">
              <a:avLst>
                <a:gd name="adj" fmla="val 4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93267" y="4426268"/>
              <a:ext cx="20160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BufferedInputStream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94410" y="4736306"/>
              <a:ext cx="1430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ConcreteDecorator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94791" y="5125402"/>
              <a:ext cx="1686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Wraps any InputStream.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4791" y="5411152"/>
              <a:ext cx="22205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Adds memory buffer to optimize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94791" y="5649278"/>
              <a:ext cx="16432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disk read performance.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096250" y="4191000"/>
              <a:ext cx="3333750" cy="1905000"/>
            </a:xfrm>
            <a:prstGeom prst="roundRect">
              <a:avLst>
                <a:gd name="adj" fmla="val 40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93267" y="4426268"/>
              <a:ext cx="15651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GZIPInputStream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94410" y="4736306"/>
              <a:ext cx="1430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ConcreteDecorator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94791" y="5125402"/>
              <a:ext cx="1711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Wraps buffered stream.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94791" y="5411152"/>
              <a:ext cx="20363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Transparently decompressing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94791" y="5649278"/>
              <a:ext cx="1366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GZIP bytes on read.</a:t>
              </a:r>
            </a:p>
          </p:txBody>
        </p:sp>
      </p:grpSp>
      <p:sp>
        <p:nvSpPr>
          <p:cNvPr id="46" name="Rectangle 4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31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6075855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Real-world Example: Web Middleware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0" y="1333500"/>
            <a:ext cx="3556000" cy="4762500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32 / 35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62000" y="2381250"/>
            <a:ext cx="5334000" cy="762000"/>
            <a:chOff x="762000" y="2381250"/>
            <a:chExt cx="5334000" cy="762000"/>
          </a:xfrm>
        </p:grpSpPr>
        <p:sp>
          <p:nvSpPr>
            <p:cNvPr id="7" name="Rectangle 7"/>
            <p:cNvSpPr/>
            <p:nvPr/>
          </p:nvSpPr>
          <p:spPr>
            <a:xfrm>
              <a:off x="762000" y="238125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94029" y="2537460"/>
              <a:ext cx="18392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1. Logging Middleware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94791" y="2839402"/>
              <a:ext cx="3743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Logs request timestamp &amp; IP, then calls next handler.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3286125"/>
            <a:ext cx="5334000" cy="762000"/>
            <a:chOff x="762000" y="3286125"/>
            <a:chExt cx="5334000" cy="762000"/>
          </a:xfrm>
        </p:grpSpPr>
        <p:sp>
          <p:nvSpPr>
            <p:cNvPr id="11" name="Rectangle 11"/>
            <p:cNvSpPr/>
            <p:nvPr/>
          </p:nvSpPr>
          <p:spPr>
            <a:xfrm>
              <a:off x="762000" y="3286125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94029" y="3442335"/>
              <a:ext cx="24492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2. Authentication Middleware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94791" y="3744278"/>
              <a:ext cx="37800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Verifies JWT token. Rejects if invalid, else calls next.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62000" y="4191000"/>
            <a:ext cx="5334000" cy="762000"/>
            <a:chOff x="762000" y="4191000"/>
            <a:chExt cx="5334000" cy="762000"/>
          </a:xfrm>
        </p:grpSpPr>
        <p:sp>
          <p:nvSpPr>
            <p:cNvPr id="15" name="Rectangle 15"/>
            <p:cNvSpPr/>
            <p:nvPr/>
          </p:nvSpPr>
          <p:spPr>
            <a:xfrm>
              <a:off x="762000" y="4191000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94029" y="4347210"/>
              <a:ext cx="22462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3. Compression Middleware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4791" y="4649152"/>
              <a:ext cx="36458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Compresses response body with Gzip before sending.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62000" y="5095875"/>
            <a:ext cx="5334000" cy="762000"/>
            <a:chOff x="762000" y="5095875"/>
            <a:chExt cx="5334000" cy="762000"/>
          </a:xfrm>
        </p:grpSpPr>
        <p:sp>
          <p:nvSpPr>
            <p:cNvPr id="19" name="Rectangle 19"/>
            <p:cNvSpPr/>
            <p:nvPr/>
          </p:nvSpPr>
          <p:spPr>
            <a:xfrm>
              <a:off x="762000" y="5095875"/>
              <a:ext cx="5334000" cy="762000"/>
            </a:xfrm>
            <a:prstGeom prst="roundRect">
              <a:avLst>
                <a:gd name="adj" fmla="val 7500"/>
              </a:avLst>
            </a:prstGeom>
            <a:solidFill>
              <a:srgbClr val="252640"/>
            </a:solidFill>
            <a:ln w="9525">
              <a:solidFill>
                <a:srgbClr val="00D4A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94029" y="5252085"/>
              <a:ext cx="20572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4. Core Route Controller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4791" y="5554028"/>
              <a:ext cx="45573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ConcreteComponent that handles business logic and returns data.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4380" y="1171575"/>
            <a:ext cx="34217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00D4AA"/>
                </a:solidFill>
                <a:latin typeface="Segoe UI"/>
                <a:ea typeface="Segoe UI"/>
                <a:cs typeface="Segoe UI"/>
              </a:rPr>
              <a:t>HTTP Request Processing Pipeline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55142" y="1568768"/>
            <a:ext cx="563561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In modern backend frameworks (Express.js, ASP.NET, Go Gin),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5142" y="1854518"/>
            <a:ext cx="432682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C0C0D0"/>
                </a:solidFill>
                <a:latin typeface="Segoe UI"/>
                <a:ea typeface="Segoe UI"/>
                <a:cs typeface="Segoe UI"/>
              </a:rPr>
              <a:t>middleware functions form a Decorator pipeline: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588204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Mini Quiz: Test Your Understanding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762000" y="1238250"/>
            <a:ext cx="10668000" cy="2286000"/>
            <a:chOff x="762000" y="1238250"/>
            <a:chExt cx="10668000" cy="2286000"/>
          </a:xfrm>
        </p:grpSpPr>
        <p:sp>
          <p:nvSpPr>
            <p:cNvPr id="4" name="Rectangle 4"/>
            <p:cNvSpPr/>
            <p:nvPr/>
          </p:nvSpPr>
          <p:spPr>
            <a:xfrm>
              <a:off x="762000" y="1238250"/>
              <a:ext cx="106680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040130" y="1457325"/>
              <a:ext cx="12430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Question 1: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41273" y="1814989"/>
              <a:ext cx="61819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Which GoF pattern would you choose if you need to attach dynamic logging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41273" y="2053114"/>
              <a:ext cx="71381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and caching features to an existing Third-Party Stream object without modifying it?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32154" y="2489835"/>
              <a:ext cx="16366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A) Strategy Pattern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2154" y="2775585"/>
              <a:ext cx="7064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B) Decorator Pattern ✓ (Correct! Wraps object dynamically while sharing interface)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32154" y="3061335"/>
              <a:ext cx="14591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C) Facade Pattern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62000" y="3714750"/>
            <a:ext cx="10668000" cy="2286000"/>
            <a:chOff x="762000" y="3714750"/>
            <a:chExt cx="10668000" cy="2286000"/>
          </a:xfrm>
        </p:grpSpPr>
        <p:sp>
          <p:nvSpPr>
            <p:cNvPr id="12" name="Rectangle 12"/>
            <p:cNvSpPr/>
            <p:nvPr/>
          </p:nvSpPr>
          <p:spPr>
            <a:xfrm>
              <a:off x="762000" y="3714750"/>
              <a:ext cx="10668000" cy="2286000"/>
            </a:xfrm>
            <a:prstGeom prst="roundRect">
              <a:avLst>
                <a:gd name="adj" fmla="val 3333"/>
              </a:avLst>
            </a:prstGeom>
            <a:solidFill>
              <a:srgbClr val="25264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40130" y="3933825"/>
              <a:ext cx="12430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C63FF"/>
                  </a:solidFill>
                  <a:latin typeface="Segoe UI"/>
                  <a:ea typeface="Segoe UI"/>
                  <a:cs typeface="Segoe UI"/>
                </a:rPr>
                <a:t>Question 2: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1273" y="4291489"/>
              <a:ext cx="60183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What is the main structural difference between Decorator and Facade?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32154" y="4775835"/>
              <a:ext cx="7425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A) Decorator retains component interface; Facade defines a new simplified interface. ✓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32154" y="5109210"/>
              <a:ext cx="52714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B) Decorator cannot be nested; Facade can be nested recursively.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32154" y="5442585"/>
              <a:ext cx="64662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C) Facade alters behavior at compile time; Decorator alters behavior at runtime.</a:t>
              </a:r>
            </a:p>
          </p:txBody>
        </p:sp>
      </p:grpSp>
      <p:sp>
        <p:nvSpPr>
          <p:cNvPr id="19" name="Rectangle 19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33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26720"/>
            <a:ext cx="4302813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E8E8F0"/>
                </a:solidFill>
                <a:latin typeface="Segoe UI"/>
                <a:ea typeface="Segoe UI"/>
                <a:cs typeface="Segoe UI"/>
              </a:rPr>
              <a:t>Summary &amp; Key Takeaways</a:t>
            </a:r>
          </a:p>
        </p:txBody>
      </p:sp>
      <p:sp>
        <p:nvSpPr>
          <p:cNvPr id="3" name="Rectangle 3"/>
          <p:cNvSpPr/>
          <p:nvPr/>
        </p:nvSpPr>
        <p:spPr>
          <a:xfrm>
            <a:off x="762000" y="838200"/>
            <a:ext cx="476250" cy="28575"/>
          </a:xfrm>
          <a:prstGeom prst="roundRect">
            <a:avLst>
              <a:gd name="adj" fmla="val 33333"/>
            </a:avLst>
          </a:prstGeom>
          <a:solidFill>
            <a:srgbClr val="6C63FF"/>
          </a:solidFill>
          <a:ln>
            <a:noFill/>
          </a:ln>
        </p:spPr>
      </p:sp>
      <p:grpSp>
        <p:nvGrpSpPr>
          <p:cNvPr id="25" name="Group 25"/>
          <p:cNvGrpSpPr/>
          <p:nvPr/>
        </p:nvGrpSpPr>
        <p:grpSpPr>
          <a:xfrm>
            <a:off x="762000" y="1333500"/>
            <a:ext cx="10668000" cy="4572000"/>
            <a:chOff x="762000" y="1333500"/>
            <a:chExt cx="10668000" cy="4572000"/>
          </a:xfrm>
        </p:grpSpPr>
        <p:sp>
          <p:nvSpPr>
            <p:cNvPr id="4" name="Rectangle 4"/>
            <p:cNvSpPr/>
            <p:nvPr/>
          </p:nvSpPr>
          <p:spPr>
            <a:xfrm>
              <a:off x="762000" y="1333500"/>
              <a:ext cx="10668000" cy="4572000"/>
            </a:xfrm>
            <a:prstGeom prst="roundRect">
              <a:avLst>
                <a:gd name="adj" fmla="val 2083"/>
              </a:avLst>
            </a:prstGeom>
            <a:solidFill>
              <a:srgbClr val="252640"/>
            </a:solidFill>
            <a:ln>
              <a:noFill/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1276350" y="1752600"/>
              <a:ext cx="8154216" cy="638556"/>
              <a:chOff x="1276350" y="1752600"/>
              <a:chExt cx="8154216" cy="638556"/>
            </a:xfrm>
          </p:grpSpPr>
          <p:sp>
            <p:nvSpPr>
              <p:cNvPr id="5" name="Ellipse 5"/>
              <p:cNvSpPr/>
              <p:nvPr/>
            </p:nvSpPr>
            <p:spPr>
              <a:xfrm>
                <a:off x="1276350" y="1752600"/>
                <a:ext cx="304800" cy="304800"/>
              </a:xfrm>
              <a:prstGeom prst="ellipse">
                <a:avLst/>
              </a:prstGeom>
              <a:solidFill>
                <a:srgbClr val="6C63FF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376008" y="1832610"/>
                <a:ext cx="1054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1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1754505" y="1800225"/>
                <a:ext cx="301783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Composition over Inheritance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756029" y="2156460"/>
                <a:ext cx="767453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Decorator uses object composition to attach responsibilities at runtime without class explosion.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276350" y="2800350"/>
              <a:ext cx="8283801" cy="638556"/>
              <a:chOff x="1276350" y="2800350"/>
              <a:chExt cx="8283801" cy="638556"/>
            </a:xfrm>
          </p:grpSpPr>
          <p:sp>
            <p:nvSpPr>
              <p:cNvPr id="10" name="Ellipse 10"/>
              <p:cNvSpPr/>
              <p:nvPr/>
            </p:nvSpPr>
            <p:spPr>
              <a:xfrm>
                <a:off x="1276350" y="2800350"/>
                <a:ext cx="304800" cy="304800"/>
              </a:xfrm>
              <a:prstGeom prst="ellipse">
                <a:avLst/>
              </a:prstGeom>
              <a:solidFill>
                <a:srgbClr val="6C63FF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76008" y="2880360"/>
                <a:ext cx="1054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2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754505" y="2847975"/>
                <a:ext cx="229744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Transparent Wrapping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756029" y="3204210"/>
                <a:ext cx="780412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Decorators conform to the same interface as wrapped components, enabling transparent nesting.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276350" y="3848100"/>
              <a:ext cx="6991191" cy="638556"/>
              <a:chOff x="1276350" y="3848100"/>
              <a:chExt cx="6991191" cy="638556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1276350" y="3848100"/>
                <a:ext cx="304800" cy="304800"/>
              </a:xfrm>
              <a:prstGeom prst="ellipse">
                <a:avLst/>
              </a:prstGeom>
              <a:solidFill>
                <a:srgbClr val="6C63FF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1376008" y="3928110"/>
                <a:ext cx="1054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3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754505" y="3895725"/>
                <a:ext cx="297561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Open-Closed Principle (OCP)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756029" y="4251960"/>
                <a:ext cx="651151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Extend functionality by adding new decorators without editing existing core code.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76350" y="4895850"/>
              <a:ext cx="8722990" cy="638556"/>
              <a:chOff x="1276350" y="4895850"/>
              <a:chExt cx="8722990" cy="638556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1276350" y="4895850"/>
                <a:ext cx="304800" cy="304800"/>
              </a:xfrm>
              <a:prstGeom prst="ellipse">
                <a:avLst/>
              </a:prstGeom>
              <a:solidFill>
                <a:srgbClr val="6C63FF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376008" y="4975860"/>
                <a:ext cx="1054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E8E8F0"/>
                    </a:solidFill>
                    <a:latin typeface="Segoe UI"/>
                    <a:ea typeface="Segoe UI"/>
                    <a:cs typeface="Segoe UI"/>
                  </a:rPr>
                  <a:t>4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754505" y="4943475"/>
                <a:ext cx="190495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500" b="1" dirty="0">
                    <a:solidFill>
                      <a:srgbClr val="00D4AA"/>
                    </a:solidFill>
                    <a:latin typeface="Segoe UI"/>
                    <a:ea typeface="Segoe UI"/>
                    <a:cs typeface="Segoe UI"/>
                  </a:rPr>
                  <a:t>Pattern Synergies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756029" y="5299710"/>
                <a:ext cx="824331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dirty="0">
                    <a:solidFill>
                      <a:srgbClr val="C0C0D0"/>
                    </a:solidFill>
                    <a:latin typeface="Segoe UI"/>
                    <a:ea typeface="Segoe UI"/>
                    <a:cs typeface="Segoe UI"/>
                  </a:rPr>
                  <a:t>Decorator works seamlessly with Strategy (swapping algorithms) and Facade (simplifying subsystems).</a:t>
                </a:r>
              </a:p>
            </p:txBody>
          </p:sp>
        </p:grpSp>
      </p:grpSp>
      <p:sp>
        <p:nvSpPr>
          <p:cNvPr id="26" name="Rectangle 26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0951140" y="66494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34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A1B2E">
                  <a:alpha val="50000"/>
                </a:srgbClr>
              </a:gs>
              <a:gs pos="100000">
                <a:srgbClr val="1A1B2E">
                  <a:alpha val="9500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2286000" y="1714500"/>
            <a:ext cx="7620000" cy="3429000"/>
            <a:chOff x="2286000" y="1714500"/>
            <a:chExt cx="7620000" cy="3429000"/>
          </a:xfrm>
        </p:grpSpPr>
        <p:sp>
          <p:nvSpPr>
            <p:cNvPr id="4" name="Rectangle 4"/>
            <p:cNvSpPr/>
            <p:nvPr/>
          </p:nvSpPr>
          <p:spPr>
            <a:xfrm>
              <a:off x="2286000" y="1714500"/>
              <a:ext cx="7620000" cy="3429000"/>
            </a:xfrm>
            <a:prstGeom prst="roundRect">
              <a:avLst>
                <a:gd name="adj" fmla="val 4444"/>
              </a:avLst>
            </a:prstGeom>
            <a:solidFill>
              <a:srgbClr val="252640">
                <a:alpha val="90000"/>
              </a:srgbClr>
            </a:solidFill>
            <a:ln w="14288">
              <a:solidFill>
                <a:srgbClr val="6C63FF">
                  <a:alpha val="90000"/>
                </a:srgbClr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4571762" y="2308860"/>
              <a:ext cx="304847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4200" b="1" dirty="0">
                  <a:solidFill>
                    <a:srgbClr val="E8E8F0"/>
                  </a:solidFill>
                  <a:latin typeface="Segoe UI"/>
                  <a:ea typeface="Segoe UI"/>
                  <a:cs typeface="Segoe UI"/>
                </a:rPr>
                <a:t>Thank You!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524500" y="3048000"/>
              <a:ext cx="1143000" cy="38100"/>
            </a:xfrm>
            <a:prstGeom prst="roundRect">
              <a:avLst>
                <a:gd name="adj" fmla="val 50000"/>
              </a:avLst>
            </a:prstGeom>
            <a:solidFill>
              <a:srgbClr val="00D4A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740083" y="3520440"/>
              <a:ext cx="2711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00D4AA"/>
                  </a:solidFill>
                  <a:latin typeface="Segoe UI"/>
                  <a:ea typeface="Segoe UI"/>
                  <a:cs typeface="Segoe UI"/>
                </a:rPr>
                <a:t>Questions &amp; Discussion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418260" y="4045268"/>
              <a:ext cx="53554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C0C0D0"/>
                  </a:solidFill>
                  <a:latin typeface="Segoe UI"/>
                  <a:ea typeface="Segoe UI"/>
                  <a:cs typeface="Segoe UI"/>
                </a:rPr>
                <a:t>CS202 Seminar · Object-Oriented Software Design Patterns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08732" y="4450556"/>
              <a:ext cx="4174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808090"/>
                  </a:solidFill>
                  <a:latin typeface="Segoe UI"/>
                  <a:ea typeface="Segoe UI"/>
                  <a:cs typeface="Segoe UI"/>
                </a:rPr>
                <a:t>Decorator Pattern · Strategy Pattern · Facade Pattern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0" y="6572250"/>
            <a:ext cx="12192000" cy="285750"/>
          </a:xfrm>
          <a:prstGeom prst="rect">
            <a:avLst/>
          </a:prstGeom>
          <a:solidFill>
            <a:srgbClr val="2526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66143" y="6649402"/>
            <a:ext cx="26597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808090"/>
                </a:solidFill>
                <a:latin typeface="Segoe UI"/>
                <a:ea typeface="Segoe UI"/>
                <a:cs typeface="Segoe UI"/>
              </a:rPr>
              <a:t>CS202 Presentation Complete · 35 / 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ecorator_seminar_quick">
  <a:themeElements>
    <a:clrScheme name="decorator_seminar_quick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corator_seminar_quick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corator_seminar_qui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2026-08-29T10:07:15Z</dcterms:created>
  <dcterms:modified xsi:type="dcterms:W3CDTF">2026-08-29T10:07:15Z</dcterms:modified>
  <cp:category/>
  <cp:contentStatus/>
</cp:coreProperties>
</file>